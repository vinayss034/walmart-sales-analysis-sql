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7" r:id="rId1"/>
  </p:sldMasterIdLst>
  <p:notesMasterIdLst>
    <p:notesMasterId r:id="rId26"/>
  </p:notesMasterIdLst>
  <p:sldIdLst>
    <p:sldId id="256" r:id="rId2"/>
    <p:sldId id="257" r:id="rId3"/>
    <p:sldId id="268" r:id="rId4"/>
    <p:sldId id="258" r:id="rId5"/>
    <p:sldId id="269" r:id="rId6"/>
    <p:sldId id="259" r:id="rId7"/>
    <p:sldId id="270" r:id="rId8"/>
    <p:sldId id="260" r:id="rId9"/>
    <p:sldId id="271" r:id="rId10"/>
    <p:sldId id="261" r:id="rId11"/>
    <p:sldId id="272" r:id="rId12"/>
    <p:sldId id="262" r:id="rId13"/>
    <p:sldId id="273" r:id="rId14"/>
    <p:sldId id="263" r:id="rId15"/>
    <p:sldId id="274" r:id="rId16"/>
    <p:sldId id="264" r:id="rId17"/>
    <p:sldId id="275" r:id="rId18"/>
    <p:sldId id="265" r:id="rId19"/>
    <p:sldId id="276" r:id="rId20"/>
    <p:sldId id="266" r:id="rId21"/>
    <p:sldId id="277" r:id="rId22"/>
    <p:sldId id="267" r:id="rId23"/>
    <p:sldId id="278" r:id="rId24"/>
    <p:sldId id="279"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061" autoAdjust="0"/>
  </p:normalViewPr>
  <p:slideViewPr>
    <p:cSldViewPr snapToGrid="0" snapToObjects="1">
      <p:cViewPr varScale="1">
        <p:scale>
          <a:sx n="70" d="100"/>
          <a:sy n="70" d="100"/>
        </p:scale>
        <p:origin x="138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36C781-3CFC-415B-8136-88D8B40B125A}" type="datetimeFigureOut">
              <a:rPr lang="en-IN" smtClean="0"/>
              <a:t>24-03-2025</a:t>
            </a:fld>
            <a:endParaRPr lang="en-IN"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10FF46-073F-4B77-8EDA-3BA8EE94F3AC}" type="slidenum">
              <a:rPr lang="en-IN" smtClean="0"/>
              <a:t>‹#›</a:t>
            </a:fld>
            <a:endParaRPr lang="en-IN" dirty="0"/>
          </a:p>
        </p:txBody>
      </p:sp>
    </p:spTree>
    <p:extLst>
      <p:ext uri="{BB962C8B-B14F-4D97-AF65-F5344CB8AC3E}">
        <p14:creationId xmlns:p14="http://schemas.microsoft.com/office/powerpoint/2010/main" val="3045118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D10FF46-073F-4B77-8EDA-3BA8EE94F3AC}" type="slidenum">
              <a:rPr lang="en-IN" smtClean="0"/>
              <a:t>1</a:t>
            </a:fld>
            <a:endParaRPr lang="en-IN" dirty="0"/>
          </a:p>
        </p:txBody>
      </p:sp>
    </p:spTree>
    <p:extLst>
      <p:ext uri="{BB962C8B-B14F-4D97-AF65-F5344CB8AC3E}">
        <p14:creationId xmlns:p14="http://schemas.microsoft.com/office/powerpoint/2010/main" val="1405803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3/24/2025</a:t>
            </a:fld>
            <a:endParaRPr lang="en-US" dirty="0"/>
          </a:p>
        </p:txBody>
      </p:sp>
      <p:sp>
        <p:nvSpPr>
          <p:cNvPr id="5" name="Footer Placeholder 4"/>
          <p:cNvSpPr>
            <a:spLocks noGrp="1"/>
          </p:cNvSpPr>
          <p:nvPr>
            <p:ph type="ftr" sz="quarter" idx="11"/>
          </p:nvPr>
        </p:nvSpPr>
        <p:spPr>
          <a:xfrm>
            <a:off x="2396319" y="329308"/>
            <a:ext cx="3086292" cy="309201"/>
          </a:xfrm>
        </p:spPr>
        <p:txBody>
          <a:bodyPr/>
          <a:lstStyle/>
          <a:p>
            <a:endParaRPr lang="en-US" dirty="0"/>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dirty="0"/>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74104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18311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655158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04287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614523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127227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757244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48789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3/24/2025</a:t>
            </a:fld>
            <a:endParaRPr lang="en-US" dirty="0"/>
          </a:p>
        </p:txBody>
      </p:sp>
      <p:sp>
        <p:nvSpPr>
          <p:cNvPr id="6" name="Footer Placeholder 5"/>
          <p:cNvSpPr>
            <a:spLocks noGrp="1"/>
          </p:cNvSpPr>
          <p:nvPr>
            <p:ph type="ftr" sz="quarter" idx="11"/>
          </p:nvPr>
        </p:nvSpPr>
        <p:spPr>
          <a:xfrm>
            <a:off x="1437530" y="318641"/>
            <a:ext cx="3251553" cy="320931"/>
          </a:xfrm>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74756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453962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57719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3/24/2025</a:t>
            </a:fld>
            <a:endParaRPr lang="en-US" dirty="0"/>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498549114"/>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dirty="0">
                <a:solidFill>
                  <a:schemeClr val="accent6">
                    <a:lumMod val="75000"/>
                  </a:schemeClr>
                </a:solidFill>
              </a:rPr>
              <a:t>Sales Performance Analysis of Walmart Stores</a:t>
            </a:r>
          </a:p>
        </p:txBody>
      </p:sp>
      <p:sp>
        <p:nvSpPr>
          <p:cNvPr id="3" name="Subtitle 2"/>
          <p:cNvSpPr>
            <a:spLocks noGrp="1"/>
          </p:cNvSpPr>
          <p:nvPr>
            <p:ph type="subTitle" idx="1"/>
          </p:nvPr>
        </p:nvSpPr>
        <p:spPr>
          <a:xfrm>
            <a:off x="1371600" y="3886200"/>
            <a:ext cx="6400800" cy="2669583"/>
          </a:xfrm>
        </p:spPr>
        <p:txBody>
          <a:bodyPr/>
          <a:lstStyle/>
          <a:p>
            <a:r>
              <a:rPr dirty="0">
                <a:solidFill>
                  <a:schemeClr val="accent1">
                    <a:lumMod val="75000"/>
                  </a:schemeClr>
                </a:solidFill>
              </a:rPr>
              <a:t>Using </a:t>
            </a:r>
            <a:r>
              <a:rPr lang="en-IN" dirty="0">
                <a:solidFill>
                  <a:schemeClr val="accent1">
                    <a:lumMod val="75000"/>
                  </a:schemeClr>
                </a:solidFill>
              </a:rPr>
              <a:t>Adv</a:t>
            </a:r>
            <a:r>
              <a:rPr dirty="0">
                <a:solidFill>
                  <a:schemeClr val="accent1">
                    <a:lumMod val="75000"/>
                  </a:schemeClr>
                </a:solidFill>
              </a:rPr>
              <a:t>MySQL Techniques</a:t>
            </a:r>
          </a:p>
          <a:p>
            <a:r>
              <a:rPr dirty="0">
                <a:solidFill>
                  <a:schemeClr val="accent1">
                    <a:lumMod val="75000"/>
                  </a:schemeClr>
                </a:solidFill>
              </a:rPr>
              <a:t>A Data Analytics Project</a:t>
            </a:r>
            <a:endParaRPr lang="en-IN" dirty="0">
              <a:solidFill>
                <a:schemeClr val="accent1">
                  <a:lumMod val="75000"/>
                </a:schemeClr>
              </a:solidFill>
            </a:endParaRPr>
          </a:p>
          <a:p>
            <a:r>
              <a:rPr lang="en-IN" dirty="0">
                <a:solidFill>
                  <a:schemeClr val="accent3">
                    <a:lumMod val="75000"/>
                  </a:schemeClr>
                </a:solidFill>
              </a:rPr>
              <a:t>Name-vinay soni</a:t>
            </a:r>
          </a:p>
          <a:p>
            <a:r>
              <a:rPr lang="en-IN" dirty="0">
                <a:solidFill>
                  <a:schemeClr val="accent3">
                    <a:lumMod val="75000"/>
                  </a:schemeClr>
                </a:solidFill>
              </a:rPr>
              <a:t>Date – 24-03-2025</a:t>
            </a:r>
          </a:p>
          <a:p>
            <a:endParaRPr lang="en-IN" dirty="0">
              <a:solidFill>
                <a:schemeClr val="accent1">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Introduction</a:t>
            </a:r>
          </a:p>
        </p:txBody>
      </p:sp>
      <p:sp>
        <p:nvSpPr>
          <p:cNvPr id="3" name="Content Placeholder 2"/>
          <p:cNvSpPr>
            <a:spLocks noGrp="1"/>
          </p:cNvSpPr>
          <p:nvPr>
            <p:ph idx="1"/>
          </p:nvPr>
        </p:nvSpPr>
        <p:spPr/>
        <p:style>
          <a:lnRef idx="1">
            <a:schemeClr val="accent4"/>
          </a:lnRef>
          <a:fillRef idx="2">
            <a:schemeClr val="accent4"/>
          </a:fillRef>
          <a:effectRef idx="1">
            <a:schemeClr val="accent4"/>
          </a:effectRef>
          <a:fontRef idx="minor">
            <a:schemeClr val="dk1"/>
          </a:fontRef>
        </p:style>
        <p:txBody>
          <a:bodyPr/>
          <a:lstStyle/>
          <a:p>
            <a:r>
              <a:rPr dirty="0">
                <a:solidFill>
                  <a:schemeClr val="accent1">
                    <a:lumMod val="75000"/>
                  </a:schemeClr>
                </a:solidFill>
              </a:rPr>
              <a:t>Walmart operates across multiple cities, offering a variety of products. This project uses advanced SQL techniques to analyze sales performance, customer behavior, and operational efficiency to generate actionable insights.</a:t>
            </a:r>
            <a:endParaRPr lang="en-US" dirty="0">
              <a:solidFill>
                <a:schemeClr val="accent1">
                  <a:lumMod val="75000"/>
                </a:schemeClr>
              </a:solidFill>
            </a:endParaRP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69A7E-3EEB-5DED-CD14-B48C51516724}"/>
              </a:ext>
            </a:extLst>
          </p:cNvPr>
          <p:cNvSpPr>
            <a:spLocks noGrp="1"/>
          </p:cNvSpPr>
          <p:nvPr>
            <p:ph type="title"/>
          </p:nvPr>
        </p:nvSpPr>
        <p:spPr/>
        <p:txBody>
          <a:bodyPr/>
          <a:lstStyle/>
          <a:p>
            <a:r>
              <a:rPr lang="en-US" dirty="0"/>
              <a:t>Business Problem</a:t>
            </a:r>
            <a:endParaRPr lang="en-IN" dirty="0"/>
          </a:p>
        </p:txBody>
      </p:sp>
      <p:sp>
        <p:nvSpPr>
          <p:cNvPr id="3" name="Content Placeholder 2">
            <a:extLst>
              <a:ext uri="{FF2B5EF4-FFF2-40B4-BE49-F238E27FC236}">
                <a16:creationId xmlns:a16="http://schemas.microsoft.com/office/drawing/2014/main" id="{844BB6A5-9949-57FA-B40E-55A83CEE541B}"/>
              </a:ext>
            </a:extLst>
          </p:cNvPr>
          <p:cNvSpPr>
            <a:spLocks noGrp="1"/>
          </p:cNvSpPr>
          <p:nvPr>
            <p:ph idx="1"/>
          </p:nvPr>
        </p:nvSpPr>
        <p:spPr/>
        <p:style>
          <a:lnRef idx="1">
            <a:schemeClr val="accent4"/>
          </a:lnRef>
          <a:fillRef idx="2">
            <a:schemeClr val="accent4"/>
          </a:fillRef>
          <a:effectRef idx="1">
            <a:schemeClr val="accent4"/>
          </a:effectRef>
          <a:fontRef idx="minor">
            <a:schemeClr val="dk1"/>
          </a:fontRef>
        </p:style>
        <p:txBody>
          <a:bodyPr/>
          <a:lstStyle/>
          <a:p>
            <a:r>
              <a:rPr lang="en-US" dirty="0">
                <a:solidFill>
                  <a:schemeClr val="accent1">
                    <a:lumMod val="75000"/>
                  </a:schemeClr>
                </a:solidFill>
              </a:rPr>
              <a:t>Walmart wants to optimize its sales strategies by analyzing historical transaction data across branches, customer types, payment methods, and product lines. To achieve this, advanced MySQL queries will be employed to answer challenging business questions related to sales performance, customer segmentation, and product trends.</a:t>
            </a:r>
            <a:endParaRPr lang="en-IN" dirty="0">
              <a:solidFill>
                <a:schemeClr val="accent1">
                  <a:lumMod val="75000"/>
                </a:schemeClr>
              </a:solidFill>
            </a:endParaRPr>
          </a:p>
        </p:txBody>
      </p:sp>
    </p:spTree>
    <p:extLst>
      <p:ext uri="{BB962C8B-B14F-4D97-AF65-F5344CB8AC3E}">
        <p14:creationId xmlns:p14="http://schemas.microsoft.com/office/powerpoint/2010/main" val="1620831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6328" y="550965"/>
            <a:ext cx="6571343" cy="936641"/>
          </a:xfrm>
        </p:spPr>
        <p:txBody>
          <a:bodyPr>
            <a:normAutofit fontScale="90000"/>
          </a:bodyPr>
          <a:lstStyle/>
          <a:p>
            <a:r>
              <a:rPr lang="en-US" dirty="0"/>
              <a:t>Task 1 - </a:t>
            </a:r>
            <a:r>
              <a:rPr dirty="0">
                <a:solidFill>
                  <a:schemeClr val="accent6">
                    <a:lumMod val="75000"/>
                  </a:schemeClr>
                </a:solidFill>
              </a:rPr>
              <a:t>Identifying the Top Branch by Sales Growth</a:t>
            </a:r>
          </a:p>
        </p:txBody>
      </p:sp>
      <p:sp>
        <p:nvSpPr>
          <p:cNvPr id="3" name="Content Placeholder 2"/>
          <p:cNvSpPr>
            <a:spLocks noGrp="1"/>
          </p:cNvSpPr>
          <p:nvPr>
            <p:ph idx="1"/>
          </p:nvPr>
        </p:nvSpPr>
        <p:spPr>
          <a:xfrm>
            <a:off x="457200" y="1600201"/>
            <a:ext cx="8229600" cy="4336576"/>
          </a:xfrm>
        </p:spPr>
        <p:style>
          <a:lnRef idx="1">
            <a:schemeClr val="accent1"/>
          </a:lnRef>
          <a:fillRef idx="3">
            <a:schemeClr val="accent1"/>
          </a:fillRef>
          <a:effectRef idx="2">
            <a:schemeClr val="accent1"/>
          </a:effectRef>
          <a:fontRef idx="minor">
            <a:schemeClr val="lt1"/>
          </a:fontRef>
        </p:style>
        <p:txBody>
          <a:bodyPr>
            <a:normAutofit/>
          </a:bodyPr>
          <a:lstStyle/>
          <a:p>
            <a:pPr marL="0" indent="0">
              <a:buNone/>
            </a:pPr>
            <a:r>
              <a:rPr lang="en-US" dirty="0">
                <a:solidFill>
                  <a:schemeClr val="bg1"/>
                </a:solidFill>
              </a:rPr>
              <a:t>Query –</a:t>
            </a:r>
          </a:p>
          <a:p>
            <a:pPr marL="0" indent="0">
              <a:buNone/>
            </a:pPr>
            <a:r>
              <a:rPr lang="en-US" dirty="0">
                <a:solidFill>
                  <a:schemeClr val="accent6">
                    <a:lumMod val="40000"/>
                    <a:lumOff val="60000"/>
                  </a:schemeClr>
                </a:solidFill>
              </a:rPr>
              <a:t>use sql_project;</a:t>
            </a:r>
          </a:p>
          <a:p>
            <a:pPr marL="0" indent="0">
              <a:buNone/>
            </a:pPr>
            <a:r>
              <a:rPr lang="en-US" dirty="0">
                <a:solidFill>
                  <a:schemeClr val="accent6">
                    <a:lumMod val="40000"/>
                    <a:lumOff val="60000"/>
                  </a:schemeClr>
                </a:solidFill>
              </a:rPr>
              <a:t>SELECT Branch, SUM(ROUND(Total,0)) </a:t>
            </a:r>
          </a:p>
          <a:p>
            <a:pPr marL="0" indent="0">
              <a:buNone/>
            </a:pPr>
            <a:r>
              <a:rPr lang="en-US" dirty="0">
                <a:solidFill>
                  <a:schemeClr val="accent6">
                    <a:lumMod val="40000"/>
                    <a:lumOff val="60000"/>
                  </a:schemeClr>
                </a:solidFill>
              </a:rPr>
              <a:t>AS Total_Sales_Per_Branch, monthname(Date_) </a:t>
            </a:r>
          </a:p>
          <a:p>
            <a:pPr marL="0" indent="0">
              <a:buNone/>
            </a:pPr>
            <a:r>
              <a:rPr lang="en-US" dirty="0">
                <a:solidFill>
                  <a:schemeClr val="accent6">
                    <a:lumMod val="40000"/>
                    <a:lumOff val="60000"/>
                  </a:schemeClr>
                </a:solidFill>
              </a:rPr>
              <a:t>AS Month_Name FROM WalmartSales </a:t>
            </a:r>
          </a:p>
          <a:p>
            <a:pPr marL="0" indent="0">
              <a:buNone/>
            </a:pPr>
            <a:r>
              <a:rPr lang="en-US" dirty="0">
                <a:solidFill>
                  <a:schemeClr val="accent6">
                    <a:lumMod val="40000"/>
                    <a:lumOff val="60000"/>
                  </a:schemeClr>
                </a:solidFill>
              </a:rPr>
              <a:t>GROUP BY Branch, Month_Name </a:t>
            </a:r>
          </a:p>
          <a:p>
            <a:pPr marL="0" indent="0">
              <a:buNone/>
            </a:pPr>
            <a:r>
              <a:rPr lang="en-US" dirty="0">
                <a:solidFill>
                  <a:schemeClr val="accent6">
                    <a:lumMod val="40000"/>
                    <a:lumOff val="60000"/>
                  </a:schemeClr>
                </a:solidFill>
              </a:rPr>
              <a:t>ORDER BY Total_Sales_Per_Branch DESC;</a:t>
            </a:r>
            <a:endParaRPr lang="en-IN" dirty="0">
              <a:solidFill>
                <a:schemeClr val="accent6">
                  <a:lumMod val="40000"/>
                  <a:lumOff val="60000"/>
                </a:schemeClr>
              </a:solidFill>
            </a:endParaRPr>
          </a:p>
          <a:p>
            <a:pPr marL="0" indent="0">
              <a:buNone/>
            </a:pPr>
            <a:endParaRPr lang="en-IN" dirty="0"/>
          </a:p>
          <a:p>
            <a:pPr marL="0" indent="0">
              <a:buNone/>
            </a:pPr>
            <a:endParaRPr lang="en-IN" dirty="0"/>
          </a:p>
          <a:p>
            <a:pPr marL="0" indent="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1DF3-C510-97FC-14DC-876FC95FB8AC}"/>
              </a:ext>
            </a:extLst>
          </p:cNvPr>
          <p:cNvSpPr>
            <a:spLocks noGrp="1"/>
          </p:cNvSpPr>
          <p:nvPr>
            <p:ph type="title"/>
          </p:nvPr>
        </p:nvSpPr>
        <p:spPr>
          <a:xfrm>
            <a:off x="1443491" y="804520"/>
            <a:ext cx="6571343" cy="628495"/>
          </a:xfrm>
        </p:spPr>
        <p:txBody>
          <a:bodyPr/>
          <a:lstStyle/>
          <a:p>
            <a:r>
              <a:rPr lang="en-US" dirty="0"/>
              <a:t>                   Output</a:t>
            </a:r>
            <a:endParaRPr lang="en-IN" dirty="0"/>
          </a:p>
        </p:txBody>
      </p:sp>
      <p:graphicFrame>
        <p:nvGraphicFramePr>
          <p:cNvPr id="7" name="Content Placeholder 6">
            <a:extLst>
              <a:ext uri="{FF2B5EF4-FFF2-40B4-BE49-F238E27FC236}">
                <a16:creationId xmlns:a16="http://schemas.microsoft.com/office/drawing/2014/main" id="{07E94BC2-90B0-46A6-9248-78004A4E62C0}"/>
              </a:ext>
            </a:extLst>
          </p:cNvPr>
          <p:cNvGraphicFramePr>
            <a:graphicFrameLocks noGrp="1"/>
          </p:cNvGraphicFramePr>
          <p:nvPr>
            <p:ph idx="4294967295"/>
            <p:extLst>
              <p:ext uri="{D42A27DB-BD31-4B8C-83A1-F6EECF244321}">
                <p14:modId xmlns:p14="http://schemas.microsoft.com/office/powerpoint/2010/main" val="3678696694"/>
              </p:ext>
            </p:extLst>
          </p:nvPr>
        </p:nvGraphicFramePr>
        <p:xfrm>
          <a:off x="457200" y="1940608"/>
          <a:ext cx="8332840" cy="3878128"/>
        </p:xfrm>
        <a:graphic>
          <a:graphicData uri="http://schemas.openxmlformats.org/drawingml/2006/table">
            <a:tbl>
              <a:tblPr>
                <a:tableStyleId>{775DCB02-9BB8-47FD-8907-85C794F793BA}</a:tableStyleId>
              </a:tblPr>
              <a:tblGrid>
                <a:gridCol w="1557580">
                  <a:extLst>
                    <a:ext uri="{9D8B030D-6E8A-4147-A177-3AD203B41FA5}">
                      <a16:colId xmlns:a16="http://schemas.microsoft.com/office/drawing/2014/main" val="1865636210"/>
                    </a:ext>
                  </a:extLst>
                </a:gridCol>
                <a:gridCol w="3440623">
                  <a:extLst>
                    <a:ext uri="{9D8B030D-6E8A-4147-A177-3AD203B41FA5}">
                      <a16:colId xmlns:a16="http://schemas.microsoft.com/office/drawing/2014/main" val="1639114838"/>
                    </a:ext>
                  </a:extLst>
                </a:gridCol>
                <a:gridCol w="3334637">
                  <a:extLst>
                    <a:ext uri="{9D8B030D-6E8A-4147-A177-3AD203B41FA5}">
                      <a16:colId xmlns:a16="http://schemas.microsoft.com/office/drawing/2014/main" val="2260980035"/>
                    </a:ext>
                  </a:extLst>
                </a:gridCol>
              </a:tblGrid>
              <a:tr h="571526">
                <a:tc>
                  <a:txBody>
                    <a:bodyPr/>
                    <a:lstStyle/>
                    <a:p>
                      <a:endParaRPr lang="en-IN" sz="2000" b="1" dirty="0">
                        <a:solidFill>
                          <a:schemeClr val="accent6">
                            <a:lumMod val="75000"/>
                          </a:schemeClr>
                        </a:solidFill>
                      </a:endParaRPr>
                    </a:p>
                    <a:p>
                      <a:r>
                        <a:rPr lang="en-IN" dirty="0"/>
                        <a:t>C</a:t>
                      </a:r>
                    </a:p>
                  </a:txBody>
                  <a:tcPr anchor="ctr"/>
                </a:tc>
                <a:tc>
                  <a:txBody>
                    <a:bodyPr/>
                    <a:lstStyle/>
                    <a:p>
                      <a:r>
                        <a:rPr lang="en-IN" dirty="0"/>
                        <a:t>40432</a:t>
                      </a:r>
                    </a:p>
                  </a:txBody>
                  <a:tcPr anchor="ctr"/>
                </a:tc>
                <a:tc>
                  <a:txBody>
                    <a:bodyPr/>
                    <a:lstStyle/>
                    <a:p>
                      <a:r>
                        <a:rPr lang="en-IN" dirty="0"/>
                        <a:t>January</a:t>
                      </a:r>
                    </a:p>
                  </a:txBody>
                  <a:tcPr anchor="ctr"/>
                </a:tc>
                <a:extLst>
                  <a:ext uri="{0D108BD9-81ED-4DB2-BD59-A6C34878D82A}">
                    <a16:rowId xmlns:a16="http://schemas.microsoft.com/office/drawing/2014/main" val="539759715"/>
                  </a:ext>
                </a:extLst>
              </a:tr>
              <a:tr h="419968">
                <a:tc>
                  <a:txBody>
                    <a:bodyPr/>
                    <a:lstStyle/>
                    <a:p>
                      <a:r>
                        <a:rPr lang="en-IN" dirty="0"/>
                        <a:t>A</a:t>
                      </a:r>
                    </a:p>
                  </a:txBody>
                  <a:tcPr anchor="ctr"/>
                </a:tc>
                <a:tc>
                  <a:txBody>
                    <a:bodyPr/>
                    <a:lstStyle/>
                    <a:p>
                      <a:r>
                        <a:rPr lang="en-IN" dirty="0"/>
                        <a:t>38683</a:t>
                      </a:r>
                    </a:p>
                  </a:txBody>
                  <a:tcPr anchor="ctr"/>
                </a:tc>
                <a:tc>
                  <a:txBody>
                    <a:bodyPr/>
                    <a:lstStyle/>
                    <a:p>
                      <a:r>
                        <a:rPr lang="en-IN" dirty="0"/>
                        <a:t>January</a:t>
                      </a:r>
                    </a:p>
                  </a:txBody>
                  <a:tcPr anchor="ctr"/>
                </a:tc>
                <a:extLst>
                  <a:ext uri="{0D108BD9-81ED-4DB2-BD59-A6C34878D82A}">
                    <a16:rowId xmlns:a16="http://schemas.microsoft.com/office/drawing/2014/main" val="3576383374"/>
                  </a:ext>
                </a:extLst>
              </a:tr>
              <a:tr h="419968">
                <a:tc>
                  <a:txBody>
                    <a:bodyPr/>
                    <a:lstStyle/>
                    <a:p>
                      <a:r>
                        <a:rPr lang="en-IN" dirty="0"/>
                        <a:t>A</a:t>
                      </a:r>
                    </a:p>
                  </a:txBody>
                  <a:tcPr anchor="ctr"/>
                </a:tc>
                <a:tc>
                  <a:txBody>
                    <a:bodyPr/>
                    <a:lstStyle/>
                    <a:p>
                      <a:r>
                        <a:rPr lang="en-IN" dirty="0"/>
                        <a:t>37663</a:t>
                      </a:r>
                    </a:p>
                  </a:txBody>
                  <a:tcPr anchor="ctr"/>
                </a:tc>
                <a:tc>
                  <a:txBody>
                    <a:bodyPr/>
                    <a:lstStyle/>
                    <a:p>
                      <a:r>
                        <a:rPr lang="en-IN" dirty="0"/>
                        <a:t>March</a:t>
                      </a:r>
                    </a:p>
                  </a:txBody>
                  <a:tcPr anchor="ctr"/>
                </a:tc>
                <a:extLst>
                  <a:ext uri="{0D108BD9-81ED-4DB2-BD59-A6C34878D82A}">
                    <a16:rowId xmlns:a16="http://schemas.microsoft.com/office/drawing/2014/main" val="572373290"/>
                  </a:ext>
                </a:extLst>
              </a:tr>
              <a:tr h="419968">
                <a:tc>
                  <a:txBody>
                    <a:bodyPr/>
                    <a:lstStyle/>
                    <a:p>
                      <a:r>
                        <a:rPr lang="en-IN" dirty="0"/>
                        <a:t>C</a:t>
                      </a:r>
                    </a:p>
                  </a:txBody>
                  <a:tcPr anchor="ctr"/>
                </a:tc>
                <a:tc>
                  <a:txBody>
                    <a:bodyPr/>
                    <a:lstStyle/>
                    <a:p>
                      <a:r>
                        <a:rPr lang="en-IN" dirty="0"/>
                        <a:t>37201</a:t>
                      </a:r>
                    </a:p>
                  </a:txBody>
                  <a:tcPr anchor="ctr"/>
                </a:tc>
                <a:tc>
                  <a:txBody>
                    <a:bodyPr/>
                    <a:lstStyle/>
                    <a:p>
                      <a:r>
                        <a:rPr lang="en-IN" dirty="0"/>
                        <a:t>March</a:t>
                      </a:r>
                    </a:p>
                  </a:txBody>
                  <a:tcPr anchor="ctr"/>
                </a:tc>
                <a:extLst>
                  <a:ext uri="{0D108BD9-81ED-4DB2-BD59-A6C34878D82A}">
                    <a16:rowId xmlns:a16="http://schemas.microsoft.com/office/drawing/2014/main" val="2845772974"/>
                  </a:ext>
                </a:extLst>
              </a:tr>
              <a:tr h="419968">
                <a:tc>
                  <a:txBody>
                    <a:bodyPr/>
                    <a:lstStyle/>
                    <a:p>
                      <a:r>
                        <a:rPr lang="en-IN" dirty="0"/>
                        <a:t>B</a:t>
                      </a:r>
                    </a:p>
                  </a:txBody>
                  <a:tcPr anchor="ctr"/>
                </a:tc>
                <a:tc>
                  <a:txBody>
                    <a:bodyPr/>
                    <a:lstStyle/>
                    <a:p>
                      <a:r>
                        <a:rPr lang="en-IN" dirty="0"/>
                        <a:t>37179</a:t>
                      </a:r>
                    </a:p>
                  </a:txBody>
                  <a:tcPr anchor="ctr"/>
                </a:tc>
                <a:tc>
                  <a:txBody>
                    <a:bodyPr/>
                    <a:lstStyle/>
                    <a:p>
                      <a:r>
                        <a:rPr lang="en-IN" dirty="0"/>
                        <a:t>January</a:t>
                      </a:r>
                    </a:p>
                  </a:txBody>
                  <a:tcPr anchor="ctr"/>
                </a:tc>
                <a:extLst>
                  <a:ext uri="{0D108BD9-81ED-4DB2-BD59-A6C34878D82A}">
                    <a16:rowId xmlns:a16="http://schemas.microsoft.com/office/drawing/2014/main" val="3517253485"/>
                  </a:ext>
                </a:extLst>
              </a:tr>
              <a:tr h="419968">
                <a:tc>
                  <a:txBody>
                    <a:bodyPr/>
                    <a:lstStyle/>
                    <a:p>
                      <a:r>
                        <a:rPr lang="en-IN" dirty="0"/>
                        <a:t>B</a:t>
                      </a:r>
                    </a:p>
                  </a:txBody>
                  <a:tcPr anchor="ctr"/>
                </a:tc>
                <a:tc>
                  <a:txBody>
                    <a:bodyPr/>
                    <a:lstStyle/>
                    <a:p>
                      <a:r>
                        <a:rPr lang="en-IN" dirty="0"/>
                        <a:t>34599</a:t>
                      </a:r>
                    </a:p>
                  </a:txBody>
                  <a:tcPr anchor="ctr"/>
                </a:tc>
                <a:tc>
                  <a:txBody>
                    <a:bodyPr/>
                    <a:lstStyle/>
                    <a:p>
                      <a:r>
                        <a:rPr lang="en-IN" dirty="0"/>
                        <a:t>March</a:t>
                      </a:r>
                    </a:p>
                  </a:txBody>
                  <a:tcPr anchor="ctr"/>
                </a:tc>
                <a:extLst>
                  <a:ext uri="{0D108BD9-81ED-4DB2-BD59-A6C34878D82A}">
                    <a16:rowId xmlns:a16="http://schemas.microsoft.com/office/drawing/2014/main" val="3625156207"/>
                  </a:ext>
                </a:extLst>
              </a:tr>
              <a:tr h="419968">
                <a:tc>
                  <a:txBody>
                    <a:bodyPr/>
                    <a:lstStyle/>
                    <a:p>
                      <a:r>
                        <a:rPr lang="en-IN" dirty="0"/>
                        <a:t>B</a:t>
                      </a:r>
                    </a:p>
                  </a:txBody>
                  <a:tcPr anchor="ctr"/>
                </a:tc>
                <a:tc>
                  <a:txBody>
                    <a:bodyPr/>
                    <a:lstStyle/>
                    <a:p>
                      <a:r>
                        <a:rPr lang="en-IN" dirty="0"/>
                        <a:t>34421</a:t>
                      </a:r>
                    </a:p>
                  </a:txBody>
                  <a:tcPr anchor="ctr"/>
                </a:tc>
                <a:tc>
                  <a:txBody>
                    <a:bodyPr/>
                    <a:lstStyle/>
                    <a:p>
                      <a:r>
                        <a:rPr lang="en-IN" dirty="0"/>
                        <a:t>February</a:t>
                      </a:r>
                    </a:p>
                  </a:txBody>
                  <a:tcPr anchor="ctr"/>
                </a:tc>
                <a:extLst>
                  <a:ext uri="{0D108BD9-81ED-4DB2-BD59-A6C34878D82A}">
                    <a16:rowId xmlns:a16="http://schemas.microsoft.com/office/drawing/2014/main" val="2609371146"/>
                  </a:ext>
                </a:extLst>
              </a:tr>
              <a:tr h="336372">
                <a:tc>
                  <a:txBody>
                    <a:bodyPr/>
                    <a:lstStyle/>
                    <a:p>
                      <a:r>
                        <a:rPr lang="en-IN" dirty="0"/>
                        <a:t>C</a:t>
                      </a:r>
                    </a:p>
                  </a:txBody>
                  <a:tcPr anchor="ctr"/>
                </a:tc>
                <a:tc>
                  <a:txBody>
                    <a:bodyPr/>
                    <a:lstStyle/>
                    <a:p>
                      <a:r>
                        <a:rPr lang="en-IN" dirty="0"/>
                        <a:t>32936</a:t>
                      </a:r>
                    </a:p>
                  </a:txBody>
                  <a:tcPr anchor="ctr"/>
                </a:tc>
                <a:tc>
                  <a:txBody>
                    <a:bodyPr/>
                    <a:lstStyle/>
                    <a:p>
                      <a:r>
                        <a:rPr lang="en-IN" dirty="0"/>
                        <a:t>February</a:t>
                      </a:r>
                    </a:p>
                  </a:txBody>
                  <a:tcPr anchor="ctr"/>
                </a:tc>
                <a:extLst>
                  <a:ext uri="{0D108BD9-81ED-4DB2-BD59-A6C34878D82A}">
                    <a16:rowId xmlns:a16="http://schemas.microsoft.com/office/drawing/2014/main" val="4185958467"/>
                  </a:ext>
                </a:extLst>
              </a:tr>
              <a:tr h="419968">
                <a:tc>
                  <a:txBody>
                    <a:bodyPr/>
                    <a:lstStyle/>
                    <a:p>
                      <a:r>
                        <a:rPr lang="en-IN" dirty="0"/>
                        <a:t>A</a:t>
                      </a:r>
                    </a:p>
                  </a:txBody>
                  <a:tcPr anchor="ctr"/>
                </a:tc>
                <a:tc>
                  <a:txBody>
                    <a:bodyPr/>
                    <a:lstStyle/>
                    <a:p>
                      <a:r>
                        <a:rPr lang="en-IN" dirty="0"/>
                        <a:t>29856</a:t>
                      </a:r>
                    </a:p>
                  </a:txBody>
                  <a:tcPr anchor="ctr"/>
                </a:tc>
                <a:tc>
                  <a:txBody>
                    <a:bodyPr/>
                    <a:lstStyle/>
                    <a:p>
                      <a:r>
                        <a:rPr lang="en-IN" dirty="0"/>
                        <a:t>February</a:t>
                      </a:r>
                    </a:p>
                  </a:txBody>
                  <a:tcPr anchor="ctr"/>
                </a:tc>
                <a:extLst>
                  <a:ext uri="{0D108BD9-81ED-4DB2-BD59-A6C34878D82A}">
                    <a16:rowId xmlns:a16="http://schemas.microsoft.com/office/drawing/2014/main" val="1258693102"/>
                  </a:ext>
                </a:extLst>
              </a:tr>
            </a:tbl>
          </a:graphicData>
        </a:graphic>
      </p:graphicFrame>
      <p:graphicFrame>
        <p:nvGraphicFramePr>
          <p:cNvPr id="10" name="Table 9">
            <a:extLst>
              <a:ext uri="{FF2B5EF4-FFF2-40B4-BE49-F238E27FC236}">
                <a16:creationId xmlns:a16="http://schemas.microsoft.com/office/drawing/2014/main" id="{DC8C01D2-3102-BDDA-0C74-E8FF1A248E2E}"/>
              </a:ext>
            </a:extLst>
          </p:cNvPr>
          <p:cNvGraphicFramePr>
            <a:graphicFrameLocks noGrp="1"/>
          </p:cNvGraphicFramePr>
          <p:nvPr>
            <p:extLst>
              <p:ext uri="{D42A27DB-BD31-4B8C-83A1-F6EECF244321}">
                <p14:modId xmlns:p14="http://schemas.microsoft.com/office/powerpoint/2010/main" val="1059355518"/>
              </p:ext>
            </p:extLst>
          </p:nvPr>
        </p:nvGraphicFramePr>
        <p:xfrm>
          <a:off x="457200" y="1582420"/>
          <a:ext cx="8332839" cy="370840"/>
        </p:xfrm>
        <a:graphic>
          <a:graphicData uri="http://schemas.openxmlformats.org/drawingml/2006/table">
            <a:tbl>
              <a:tblPr firstRow="1" bandRow="1">
                <a:tableStyleId>{5C22544A-7EE6-4342-B048-85BDC9FD1C3A}</a:tableStyleId>
              </a:tblPr>
              <a:tblGrid>
                <a:gridCol w="1563329">
                  <a:extLst>
                    <a:ext uri="{9D8B030D-6E8A-4147-A177-3AD203B41FA5}">
                      <a16:colId xmlns:a16="http://schemas.microsoft.com/office/drawing/2014/main" val="3593660889"/>
                    </a:ext>
                  </a:extLst>
                </a:gridCol>
                <a:gridCol w="3451123">
                  <a:extLst>
                    <a:ext uri="{9D8B030D-6E8A-4147-A177-3AD203B41FA5}">
                      <a16:colId xmlns:a16="http://schemas.microsoft.com/office/drawing/2014/main" val="509423035"/>
                    </a:ext>
                  </a:extLst>
                </a:gridCol>
                <a:gridCol w="3318387">
                  <a:extLst>
                    <a:ext uri="{9D8B030D-6E8A-4147-A177-3AD203B41FA5}">
                      <a16:colId xmlns:a16="http://schemas.microsoft.com/office/drawing/2014/main" val="4253006496"/>
                    </a:ext>
                  </a:extLst>
                </a:gridCol>
              </a:tblGrid>
              <a:tr h="370840">
                <a:tc>
                  <a:txBody>
                    <a:bodyPr/>
                    <a:lstStyle/>
                    <a:p>
                      <a:r>
                        <a:rPr lang="en-US" dirty="0"/>
                        <a:t>Branch</a:t>
                      </a:r>
                      <a:endParaRPr lang="en-IN" dirty="0"/>
                    </a:p>
                  </a:txBody>
                  <a:tcPr/>
                </a:tc>
                <a:tc>
                  <a:txBody>
                    <a:bodyPr/>
                    <a:lstStyle/>
                    <a:p>
                      <a:r>
                        <a:rPr lang="en-US" dirty="0"/>
                        <a:t>Total_Sales_Per_Branch</a:t>
                      </a:r>
                      <a:endParaRPr lang="en-IN" dirty="0"/>
                    </a:p>
                  </a:txBody>
                  <a:tcPr/>
                </a:tc>
                <a:tc>
                  <a:txBody>
                    <a:bodyPr/>
                    <a:lstStyle/>
                    <a:p>
                      <a:r>
                        <a:rPr lang="en-US" dirty="0"/>
                        <a:t>Month_Name</a:t>
                      </a:r>
                      <a:endParaRPr lang="en-IN" dirty="0"/>
                    </a:p>
                  </a:txBody>
                  <a:tcPr/>
                </a:tc>
                <a:extLst>
                  <a:ext uri="{0D108BD9-81ED-4DB2-BD59-A6C34878D82A}">
                    <a16:rowId xmlns:a16="http://schemas.microsoft.com/office/drawing/2014/main" val="684406594"/>
                  </a:ext>
                </a:extLst>
              </a:tr>
            </a:tbl>
          </a:graphicData>
        </a:graphic>
      </p:graphicFrame>
    </p:spTree>
    <p:extLst>
      <p:ext uri="{BB962C8B-B14F-4D97-AF65-F5344CB8AC3E}">
        <p14:creationId xmlns:p14="http://schemas.microsoft.com/office/powerpoint/2010/main" val="1662711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520"/>
            <a:ext cx="6571343" cy="751325"/>
          </a:xfrm>
        </p:spPr>
        <p:txBody>
          <a:bodyPr>
            <a:normAutofit fontScale="90000"/>
          </a:bodyPr>
          <a:lstStyle/>
          <a:p>
            <a:r>
              <a:rPr lang="en-US" dirty="0"/>
              <a:t>Task 2 - </a:t>
            </a:r>
            <a:r>
              <a:rPr lang="en-US" sz="2700" dirty="0">
                <a:solidFill>
                  <a:schemeClr val="accent6">
                    <a:lumMod val="75000"/>
                  </a:schemeClr>
                </a:solidFill>
              </a:rPr>
              <a:t>Finding the Most Profitable Product Line for Each Branch</a:t>
            </a:r>
            <a:endParaRPr sz="2700" dirty="0">
              <a:solidFill>
                <a:schemeClr val="accent6">
                  <a:lumMod val="75000"/>
                </a:schemeClr>
              </a:solidFill>
            </a:endParaRPr>
          </a:p>
        </p:txBody>
      </p:sp>
      <p:sp>
        <p:nvSpPr>
          <p:cNvPr id="3" name="Content Placeholder 2"/>
          <p:cNvSpPr>
            <a:spLocks noGrp="1"/>
          </p:cNvSpPr>
          <p:nvPr>
            <p:ph idx="1"/>
          </p:nvPr>
        </p:nvSpPr>
        <p:spPr>
          <a:xfrm>
            <a:off x="1443491" y="2088107"/>
            <a:ext cx="6571343" cy="3746729"/>
          </a:xfrm>
        </p:spPr>
        <p:style>
          <a:lnRef idx="1">
            <a:schemeClr val="accent1"/>
          </a:lnRef>
          <a:fillRef idx="3">
            <a:schemeClr val="accent1"/>
          </a:fillRef>
          <a:effectRef idx="2">
            <a:schemeClr val="accent1"/>
          </a:effectRef>
          <a:fontRef idx="minor">
            <a:schemeClr val="lt1"/>
          </a:fontRef>
        </p:style>
        <p:txBody>
          <a:bodyPr>
            <a:normAutofit/>
          </a:bodyPr>
          <a:lstStyle/>
          <a:p>
            <a:pPr marL="0" indent="0">
              <a:buNone/>
            </a:pPr>
            <a:r>
              <a:rPr lang="en-US" dirty="0"/>
              <a:t>Query –</a:t>
            </a:r>
          </a:p>
          <a:p>
            <a:pPr marL="0" indent="0">
              <a:buNone/>
            </a:pPr>
            <a:r>
              <a:rPr lang="en-US" dirty="0">
                <a:solidFill>
                  <a:schemeClr val="accent6">
                    <a:lumMod val="40000"/>
                    <a:lumOff val="60000"/>
                  </a:schemeClr>
                </a:solidFill>
              </a:rPr>
              <a:t>use sql_project;</a:t>
            </a:r>
          </a:p>
          <a:p>
            <a:pPr marL="0" indent="0">
              <a:buNone/>
            </a:pPr>
            <a:r>
              <a:rPr lang="en-US" dirty="0">
                <a:solidFill>
                  <a:schemeClr val="accent6">
                    <a:lumMod val="40000"/>
                    <a:lumOff val="60000"/>
                  </a:schemeClr>
                </a:solidFill>
              </a:rPr>
              <a:t>SELECT Branch, Product_line, ROUND(SUM(cogs-Gross_income),0) </a:t>
            </a:r>
          </a:p>
          <a:p>
            <a:pPr marL="0" indent="0">
              <a:buNone/>
            </a:pPr>
            <a:r>
              <a:rPr lang="en-US" dirty="0">
                <a:solidFill>
                  <a:schemeClr val="accent6">
                    <a:lumMod val="40000"/>
                    <a:lumOff val="60000"/>
                  </a:schemeClr>
                </a:solidFill>
              </a:rPr>
              <a:t>AS TotalProfit FROM walmartsales </a:t>
            </a:r>
          </a:p>
          <a:p>
            <a:pPr marL="0" indent="0">
              <a:buNone/>
            </a:pPr>
            <a:r>
              <a:rPr lang="en-US" dirty="0">
                <a:solidFill>
                  <a:schemeClr val="accent6">
                    <a:lumMod val="40000"/>
                    <a:lumOff val="60000"/>
                  </a:schemeClr>
                </a:solidFill>
              </a:rPr>
              <a:t>GROUP BY Branch, Product_line </a:t>
            </a:r>
          </a:p>
          <a:p>
            <a:pPr marL="0" indent="0">
              <a:buNone/>
            </a:pPr>
            <a:r>
              <a:rPr lang="en-US" dirty="0">
                <a:solidFill>
                  <a:schemeClr val="accent6">
                    <a:lumMod val="40000"/>
                    <a:lumOff val="60000"/>
                  </a:schemeClr>
                </a:solidFill>
              </a:rPr>
              <a:t>ORDER BY Branch, TotalProfit DESC;</a:t>
            </a:r>
            <a:endParaRPr dirty="0">
              <a:solidFill>
                <a:schemeClr val="accent6">
                  <a:lumMod val="40000"/>
                  <a:lumOff val="6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C87AC-5BE1-79B8-1C55-20398A6CEF07}"/>
              </a:ext>
            </a:extLst>
          </p:cNvPr>
          <p:cNvSpPr>
            <a:spLocks noGrp="1"/>
          </p:cNvSpPr>
          <p:nvPr>
            <p:ph type="title"/>
          </p:nvPr>
        </p:nvSpPr>
        <p:spPr>
          <a:xfrm>
            <a:off x="1443491" y="199863"/>
            <a:ext cx="6571343" cy="519313"/>
          </a:xfrm>
        </p:spPr>
        <p:txBody>
          <a:bodyPr>
            <a:normAutofit fontScale="90000"/>
          </a:bodyPr>
          <a:lstStyle/>
          <a:p>
            <a:r>
              <a:rPr lang="en-US" dirty="0"/>
              <a:t>                      Output</a:t>
            </a:r>
            <a:endParaRPr lang="en-IN" dirty="0"/>
          </a:p>
        </p:txBody>
      </p:sp>
      <p:graphicFrame>
        <p:nvGraphicFramePr>
          <p:cNvPr id="4" name="Content Placeholder 3">
            <a:extLst>
              <a:ext uri="{FF2B5EF4-FFF2-40B4-BE49-F238E27FC236}">
                <a16:creationId xmlns:a16="http://schemas.microsoft.com/office/drawing/2014/main" id="{08E06940-4DBF-64F1-7C3E-42EB5C626578}"/>
              </a:ext>
            </a:extLst>
          </p:cNvPr>
          <p:cNvGraphicFramePr>
            <a:graphicFrameLocks noGrp="1"/>
          </p:cNvGraphicFramePr>
          <p:nvPr>
            <p:ph idx="1"/>
            <p:extLst>
              <p:ext uri="{D42A27DB-BD31-4B8C-83A1-F6EECF244321}">
                <p14:modId xmlns:p14="http://schemas.microsoft.com/office/powerpoint/2010/main" val="2896818536"/>
              </p:ext>
            </p:extLst>
          </p:nvPr>
        </p:nvGraphicFramePr>
        <p:xfrm>
          <a:off x="762513" y="1299401"/>
          <a:ext cx="7978878" cy="4423320"/>
        </p:xfrm>
        <a:graphic>
          <a:graphicData uri="http://schemas.openxmlformats.org/drawingml/2006/table">
            <a:tbl>
              <a:tblPr>
                <a:tableStyleId>{775DCB02-9BB8-47FD-8907-85C794F793BA}</a:tableStyleId>
              </a:tblPr>
              <a:tblGrid>
                <a:gridCol w="1988783">
                  <a:extLst>
                    <a:ext uri="{9D8B030D-6E8A-4147-A177-3AD203B41FA5}">
                      <a16:colId xmlns:a16="http://schemas.microsoft.com/office/drawing/2014/main" val="1934108461"/>
                    </a:ext>
                  </a:extLst>
                </a:gridCol>
                <a:gridCol w="3068664">
                  <a:extLst>
                    <a:ext uri="{9D8B030D-6E8A-4147-A177-3AD203B41FA5}">
                      <a16:colId xmlns:a16="http://schemas.microsoft.com/office/drawing/2014/main" val="1767333830"/>
                    </a:ext>
                  </a:extLst>
                </a:gridCol>
                <a:gridCol w="2921431">
                  <a:extLst>
                    <a:ext uri="{9D8B030D-6E8A-4147-A177-3AD203B41FA5}">
                      <a16:colId xmlns:a16="http://schemas.microsoft.com/office/drawing/2014/main" val="4134452708"/>
                    </a:ext>
                  </a:extLst>
                </a:gridCol>
              </a:tblGrid>
              <a:tr h="206442">
                <a:tc>
                  <a:txBody>
                    <a:bodyPr/>
                    <a:lstStyle/>
                    <a:p>
                      <a:r>
                        <a:rPr lang="en-IN" sz="1200" dirty="0"/>
                        <a:t>A</a:t>
                      </a:r>
                    </a:p>
                  </a:txBody>
                  <a:tcPr marL="62861" marR="62861" marT="31430" marB="31430" anchor="ctr"/>
                </a:tc>
                <a:tc>
                  <a:txBody>
                    <a:bodyPr/>
                    <a:lstStyle/>
                    <a:p>
                      <a:r>
                        <a:rPr lang="en-IN" sz="1200" dirty="0"/>
                        <a:t>Home and lifestyle</a:t>
                      </a:r>
                    </a:p>
                  </a:txBody>
                  <a:tcPr marL="62861" marR="62861" marT="31430" marB="31430" anchor="ctr"/>
                </a:tc>
                <a:tc>
                  <a:txBody>
                    <a:bodyPr/>
                    <a:lstStyle/>
                    <a:p>
                      <a:r>
                        <a:rPr lang="en-IN" sz="1200" dirty="0"/>
                        <a:t>20282</a:t>
                      </a:r>
                    </a:p>
                  </a:txBody>
                  <a:tcPr marL="62861" marR="62861" marT="31430" marB="31430" anchor="ctr"/>
                </a:tc>
                <a:extLst>
                  <a:ext uri="{0D108BD9-81ED-4DB2-BD59-A6C34878D82A}">
                    <a16:rowId xmlns:a16="http://schemas.microsoft.com/office/drawing/2014/main" val="4129498036"/>
                  </a:ext>
                </a:extLst>
              </a:tr>
              <a:tr h="206442">
                <a:tc>
                  <a:txBody>
                    <a:bodyPr/>
                    <a:lstStyle/>
                    <a:p>
                      <a:r>
                        <a:rPr lang="en-IN" sz="1200" dirty="0"/>
                        <a:t>A</a:t>
                      </a:r>
                    </a:p>
                  </a:txBody>
                  <a:tcPr marL="62861" marR="62861" marT="31430" marB="31430" anchor="ctr"/>
                </a:tc>
                <a:tc>
                  <a:txBody>
                    <a:bodyPr/>
                    <a:lstStyle/>
                    <a:p>
                      <a:r>
                        <a:rPr lang="en-IN" sz="1200" dirty="0"/>
                        <a:t>Sports and travel</a:t>
                      </a:r>
                    </a:p>
                  </a:txBody>
                  <a:tcPr marL="62861" marR="62861" marT="31430" marB="31430" anchor="ctr"/>
                </a:tc>
                <a:tc>
                  <a:txBody>
                    <a:bodyPr/>
                    <a:lstStyle/>
                    <a:p>
                      <a:r>
                        <a:rPr lang="en-IN" sz="1200" dirty="0"/>
                        <a:t>17528</a:t>
                      </a:r>
                    </a:p>
                  </a:txBody>
                  <a:tcPr marL="62861" marR="62861" marT="31430" marB="31430" anchor="ctr"/>
                </a:tc>
                <a:extLst>
                  <a:ext uri="{0D108BD9-81ED-4DB2-BD59-A6C34878D82A}">
                    <a16:rowId xmlns:a16="http://schemas.microsoft.com/office/drawing/2014/main" val="3054368882"/>
                  </a:ext>
                </a:extLst>
              </a:tr>
              <a:tr h="206442">
                <a:tc>
                  <a:txBody>
                    <a:bodyPr/>
                    <a:lstStyle/>
                    <a:p>
                      <a:r>
                        <a:rPr lang="en-IN" sz="1200" dirty="0"/>
                        <a:t>A</a:t>
                      </a:r>
                    </a:p>
                  </a:txBody>
                  <a:tcPr marL="62861" marR="62861" marT="31430" marB="31430" anchor="ctr"/>
                </a:tc>
                <a:tc>
                  <a:txBody>
                    <a:bodyPr/>
                    <a:lstStyle/>
                    <a:p>
                      <a:r>
                        <a:rPr lang="en-IN" sz="1200" dirty="0"/>
                        <a:t>Electronic accessories</a:t>
                      </a:r>
                    </a:p>
                  </a:txBody>
                  <a:tcPr marL="62861" marR="62861" marT="31430" marB="31430" anchor="ctr"/>
                </a:tc>
                <a:tc>
                  <a:txBody>
                    <a:bodyPr/>
                    <a:lstStyle/>
                    <a:p>
                      <a:r>
                        <a:rPr lang="en-IN" sz="1200" dirty="0"/>
                        <a:t>16573</a:t>
                      </a:r>
                    </a:p>
                  </a:txBody>
                  <a:tcPr marL="62861" marR="62861" marT="31430" marB="31430" anchor="ctr"/>
                </a:tc>
                <a:extLst>
                  <a:ext uri="{0D108BD9-81ED-4DB2-BD59-A6C34878D82A}">
                    <a16:rowId xmlns:a16="http://schemas.microsoft.com/office/drawing/2014/main" val="2596041156"/>
                  </a:ext>
                </a:extLst>
              </a:tr>
              <a:tr h="206442">
                <a:tc>
                  <a:txBody>
                    <a:bodyPr/>
                    <a:lstStyle/>
                    <a:p>
                      <a:r>
                        <a:rPr lang="en-IN" sz="1200" dirty="0"/>
                        <a:t>A</a:t>
                      </a:r>
                    </a:p>
                  </a:txBody>
                  <a:tcPr marL="62861" marR="62861" marT="31430" marB="31430" anchor="ctr"/>
                </a:tc>
                <a:tc>
                  <a:txBody>
                    <a:bodyPr/>
                    <a:lstStyle/>
                    <a:p>
                      <a:r>
                        <a:rPr lang="en-IN" sz="1200" dirty="0"/>
                        <a:t>Food and beverages</a:t>
                      </a:r>
                    </a:p>
                  </a:txBody>
                  <a:tcPr marL="62861" marR="62861" marT="31430" marB="31430" anchor="ctr"/>
                </a:tc>
                <a:tc>
                  <a:txBody>
                    <a:bodyPr/>
                    <a:lstStyle/>
                    <a:p>
                      <a:r>
                        <a:rPr lang="en-IN" sz="1200" dirty="0"/>
                        <a:t>15528</a:t>
                      </a:r>
                    </a:p>
                  </a:txBody>
                  <a:tcPr marL="62861" marR="62861" marT="31430" marB="31430" anchor="ctr"/>
                </a:tc>
                <a:extLst>
                  <a:ext uri="{0D108BD9-81ED-4DB2-BD59-A6C34878D82A}">
                    <a16:rowId xmlns:a16="http://schemas.microsoft.com/office/drawing/2014/main" val="977226162"/>
                  </a:ext>
                </a:extLst>
              </a:tr>
              <a:tr h="206442">
                <a:tc>
                  <a:txBody>
                    <a:bodyPr/>
                    <a:lstStyle/>
                    <a:p>
                      <a:r>
                        <a:rPr lang="en-IN" sz="1200" dirty="0"/>
                        <a:t>A</a:t>
                      </a:r>
                    </a:p>
                  </a:txBody>
                  <a:tcPr marL="62861" marR="62861" marT="31430" marB="31430" anchor="ctr"/>
                </a:tc>
                <a:tc>
                  <a:txBody>
                    <a:bodyPr/>
                    <a:lstStyle/>
                    <a:p>
                      <a:r>
                        <a:rPr lang="en-IN" sz="1200" dirty="0"/>
                        <a:t>Fashion accessories</a:t>
                      </a:r>
                    </a:p>
                  </a:txBody>
                  <a:tcPr marL="62861" marR="62861" marT="31430" marB="31430" anchor="ctr"/>
                </a:tc>
                <a:tc>
                  <a:txBody>
                    <a:bodyPr/>
                    <a:lstStyle/>
                    <a:p>
                      <a:r>
                        <a:rPr lang="en-IN" sz="1200" dirty="0"/>
                        <a:t>14777</a:t>
                      </a:r>
                    </a:p>
                  </a:txBody>
                  <a:tcPr marL="62861" marR="62861" marT="31430" marB="31430" anchor="ctr"/>
                </a:tc>
                <a:extLst>
                  <a:ext uri="{0D108BD9-81ED-4DB2-BD59-A6C34878D82A}">
                    <a16:rowId xmlns:a16="http://schemas.microsoft.com/office/drawing/2014/main" val="1236809544"/>
                  </a:ext>
                </a:extLst>
              </a:tr>
              <a:tr h="206442">
                <a:tc>
                  <a:txBody>
                    <a:bodyPr/>
                    <a:lstStyle/>
                    <a:p>
                      <a:r>
                        <a:rPr lang="en-IN" sz="1200" dirty="0"/>
                        <a:t>A</a:t>
                      </a:r>
                    </a:p>
                  </a:txBody>
                  <a:tcPr marL="62861" marR="62861" marT="31430" marB="31430" anchor="ctr"/>
                </a:tc>
                <a:tc>
                  <a:txBody>
                    <a:bodyPr/>
                    <a:lstStyle/>
                    <a:p>
                      <a:r>
                        <a:rPr lang="en-IN" sz="1200" dirty="0"/>
                        <a:t>Health and beauty</a:t>
                      </a:r>
                    </a:p>
                  </a:txBody>
                  <a:tcPr marL="62861" marR="62861" marT="31430" marB="31430" anchor="ctr"/>
                </a:tc>
                <a:tc>
                  <a:txBody>
                    <a:bodyPr/>
                    <a:lstStyle/>
                    <a:p>
                      <a:r>
                        <a:rPr lang="en-IN" sz="1200" dirty="0"/>
                        <a:t>11398</a:t>
                      </a:r>
                    </a:p>
                  </a:txBody>
                  <a:tcPr marL="62861" marR="62861" marT="31430" marB="31430" anchor="ctr"/>
                </a:tc>
                <a:extLst>
                  <a:ext uri="{0D108BD9-81ED-4DB2-BD59-A6C34878D82A}">
                    <a16:rowId xmlns:a16="http://schemas.microsoft.com/office/drawing/2014/main" val="2195666245"/>
                  </a:ext>
                </a:extLst>
              </a:tr>
              <a:tr h="206442">
                <a:tc>
                  <a:txBody>
                    <a:bodyPr/>
                    <a:lstStyle/>
                    <a:p>
                      <a:r>
                        <a:rPr lang="en-IN" sz="1200" dirty="0"/>
                        <a:t>B</a:t>
                      </a:r>
                    </a:p>
                  </a:txBody>
                  <a:tcPr marL="62861" marR="62861" marT="31430" marB="31430" anchor="ctr"/>
                </a:tc>
                <a:tc>
                  <a:txBody>
                    <a:bodyPr/>
                    <a:lstStyle/>
                    <a:p>
                      <a:r>
                        <a:rPr lang="en-IN" sz="1200" dirty="0"/>
                        <a:t>Sports and travel</a:t>
                      </a:r>
                    </a:p>
                  </a:txBody>
                  <a:tcPr marL="62861" marR="62861" marT="31430" marB="31430" anchor="ctr"/>
                </a:tc>
                <a:tc>
                  <a:txBody>
                    <a:bodyPr/>
                    <a:lstStyle/>
                    <a:p>
                      <a:r>
                        <a:rPr lang="en-IN" sz="1200" dirty="0"/>
                        <a:t>18084</a:t>
                      </a:r>
                    </a:p>
                  </a:txBody>
                  <a:tcPr marL="62861" marR="62861" marT="31430" marB="31430" anchor="ctr"/>
                </a:tc>
                <a:extLst>
                  <a:ext uri="{0D108BD9-81ED-4DB2-BD59-A6C34878D82A}">
                    <a16:rowId xmlns:a16="http://schemas.microsoft.com/office/drawing/2014/main" val="227454999"/>
                  </a:ext>
                </a:extLst>
              </a:tr>
              <a:tr h="206442">
                <a:tc>
                  <a:txBody>
                    <a:bodyPr/>
                    <a:lstStyle/>
                    <a:p>
                      <a:r>
                        <a:rPr lang="en-IN" sz="1200" dirty="0"/>
                        <a:t>B</a:t>
                      </a:r>
                    </a:p>
                  </a:txBody>
                  <a:tcPr marL="62861" marR="62861" marT="31430" marB="31430" anchor="ctr"/>
                </a:tc>
                <a:tc>
                  <a:txBody>
                    <a:bodyPr/>
                    <a:lstStyle/>
                    <a:p>
                      <a:r>
                        <a:rPr lang="en-IN" sz="1200" dirty="0"/>
                        <a:t>Health and beauty</a:t>
                      </a:r>
                    </a:p>
                  </a:txBody>
                  <a:tcPr marL="62861" marR="62861" marT="31430" marB="31430" anchor="ctr"/>
                </a:tc>
                <a:tc>
                  <a:txBody>
                    <a:bodyPr/>
                    <a:lstStyle/>
                    <a:p>
                      <a:r>
                        <a:rPr lang="en-IN" sz="1200" dirty="0"/>
                        <a:t>18078</a:t>
                      </a:r>
                    </a:p>
                  </a:txBody>
                  <a:tcPr marL="62861" marR="62861" marT="31430" marB="31430" anchor="ctr"/>
                </a:tc>
                <a:extLst>
                  <a:ext uri="{0D108BD9-81ED-4DB2-BD59-A6C34878D82A}">
                    <a16:rowId xmlns:a16="http://schemas.microsoft.com/office/drawing/2014/main" val="1055976125"/>
                  </a:ext>
                </a:extLst>
              </a:tr>
              <a:tr h="206442">
                <a:tc>
                  <a:txBody>
                    <a:bodyPr/>
                    <a:lstStyle/>
                    <a:p>
                      <a:r>
                        <a:rPr lang="en-IN" sz="1200" dirty="0"/>
                        <a:t>B</a:t>
                      </a:r>
                    </a:p>
                  </a:txBody>
                  <a:tcPr marL="62861" marR="62861" marT="31430" marB="31430" anchor="ctr"/>
                </a:tc>
                <a:tc>
                  <a:txBody>
                    <a:bodyPr/>
                    <a:lstStyle/>
                    <a:p>
                      <a:r>
                        <a:rPr lang="en-IN" sz="1200" dirty="0"/>
                        <a:t>Home and lifestyle</a:t>
                      </a:r>
                    </a:p>
                  </a:txBody>
                  <a:tcPr marL="62861" marR="62861" marT="31430" marB="31430" anchor="ctr"/>
                </a:tc>
                <a:tc>
                  <a:txBody>
                    <a:bodyPr/>
                    <a:lstStyle/>
                    <a:p>
                      <a:r>
                        <a:rPr lang="en-IN" sz="1200" dirty="0"/>
                        <a:t>15878</a:t>
                      </a:r>
                    </a:p>
                  </a:txBody>
                  <a:tcPr marL="62861" marR="62861" marT="31430" marB="31430" anchor="ctr"/>
                </a:tc>
                <a:extLst>
                  <a:ext uri="{0D108BD9-81ED-4DB2-BD59-A6C34878D82A}">
                    <a16:rowId xmlns:a16="http://schemas.microsoft.com/office/drawing/2014/main" val="2356786867"/>
                  </a:ext>
                </a:extLst>
              </a:tr>
              <a:tr h="206442">
                <a:tc>
                  <a:txBody>
                    <a:bodyPr/>
                    <a:lstStyle/>
                    <a:p>
                      <a:r>
                        <a:rPr lang="en-IN" sz="1200" dirty="0"/>
                        <a:t>B</a:t>
                      </a:r>
                    </a:p>
                  </a:txBody>
                  <a:tcPr marL="62861" marR="62861" marT="31430" marB="31430" anchor="ctr"/>
                </a:tc>
                <a:tc>
                  <a:txBody>
                    <a:bodyPr/>
                    <a:lstStyle/>
                    <a:p>
                      <a:r>
                        <a:rPr lang="en-IN" sz="1200" dirty="0"/>
                        <a:t>Electronic accessories</a:t>
                      </a:r>
                    </a:p>
                  </a:txBody>
                  <a:tcPr marL="62861" marR="62861" marT="31430" marB="31430" anchor="ctr"/>
                </a:tc>
                <a:tc>
                  <a:txBody>
                    <a:bodyPr/>
                    <a:lstStyle/>
                    <a:p>
                      <a:r>
                        <a:rPr lang="en-IN" sz="1200" dirty="0"/>
                        <a:t>15427</a:t>
                      </a:r>
                    </a:p>
                  </a:txBody>
                  <a:tcPr marL="62861" marR="62861" marT="31430" marB="31430" anchor="ctr"/>
                </a:tc>
                <a:extLst>
                  <a:ext uri="{0D108BD9-81ED-4DB2-BD59-A6C34878D82A}">
                    <a16:rowId xmlns:a16="http://schemas.microsoft.com/office/drawing/2014/main" val="3807716319"/>
                  </a:ext>
                </a:extLst>
              </a:tr>
              <a:tr h="206442">
                <a:tc>
                  <a:txBody>
                    <a:bodyPr/>
                    <a:lstStyle/>
                    <a:p>
                      <a:r>
                        <a:rPr lang="en-IN" sz="1200" dirty="0"/>
                        <a:t>B</a:t>
                      </a:r>
                    </a:p>
                  </a:txBody>
                  <a:tcPr marL="62861" marR="62861" marT="31430" marB="31430" anchor="ctr"/>
                </a:tc>
                <a:tc>
                  <a:txBody>
                    <a:bodyPr/>
                    <a:lstStyle/>
                    <a:p>
                      <a:r>
                        <a:rPr lang="en-IN" sz="1200" dirty="0"/>
                        <a:t>Fashion accessories</a:t>
                      </a:r>
                    </a:p>
                  </a:txBody>
                  <a:tcPr marL="62861" marR="62861" marT="31430" marB="31430" anchor="ctr"/>
                </a:tc>
                <a:tc>
                  <a:txBody>
                    <a:bodyPr/>
                    <a:lstStyle/>
                    <a:p>
                      <a:r>
                        <a:rPr lang="en-IN" sz="1200" dirty="0"/>
                        <a:t>14850</a:t>
                      </a:r>
                    </a:p>
                  </a:txBody>
                  <a:tcPr marL="62861" marR="62861" marT="31430" marB="31430" anchor="ctr"/>
                </a:tc>
                <a:extLst>
                  <a:ext uri="{0D108BD9-81ED-4DB2-BD59-A6C34878D82A}">
                    <a16:rowId xmlns:a16="http://schemas.microsoft.com/office/drawing/2014/main" val="2053457827"/>
                  </a:ext>
                </a:extLst>
              </a:tr>
              <a:tr h="206442">
                <a:tc>
                  <a:txBody>
                    <a:bodyPr/>
                    <a:lstStyle/>
                    <a:p>
                      <a:r>
                        <a:rPr lang="en-IN" sz="1200" dirty="0"/>
                        <a:t>B</a:t>
                      </a:r>
                    </a:p>
                  </a:txBody>
                  <a:tcPr marL="62861" marR="62861" marT="31430" marB="31430" anchor="ctr"/>
                </a:tc>
                <a:tc>
                  <a:txBody>
                    <a:bodyPr/>
                    <a:lstStyle/>
                    <a:p>
                      <a:r>
                        <a:rPr lang="en-IN" sz="1200" dirty="0"/>
                        <a:t>Food and beverages</a:t>
                      </a:r>
                    </a:p>
                  </a:txBody>
                  <a:tcPr marL="62861" marR="62861" marT="31430" marB="31430" anchor="ctr"/>
                </a:tc>
                <a:tc>
                  <a:txBody>
                    <a:bodyPr/>
                    <a:lstStyle/>
                    <a:p>
                      <a:r>
                        <a:rPr lang="en-IN" sz="1200" dirty="0"/>
                        <a:t>13766</a:t>
                      </a:r>
                    </a:p>
                  </a:txBody>
                  <a:tcPr marL="62861" marR="62861" marT="31430" marB="31430" anchor="ctr"/>
                </a:tc>
                <a:extLst>
                  <a:ext uri="{0D108BD9-81ED-4DB2-BD59-A6C34878D82A}">
                    <a16:rowId xmlns:a16="http://schemas.microsoft.com/office/drawing/2014/main" val="3128572285"/>
                  </a:ext>
                </a:extLst>
              </a:tr>
              <a:tr h="206442">
                <a:tc>
                  <a:txBody>
                    <a:bodyPr/>
                    <a:lstStyle/>
                    <a:p>
                      <a:r>
                        <a:rPr lang="en-IN" sz="1200" dirty="0"/>
                        <a:t>C</a:t>
                      </a:r>
                    </a:p>
                  </a:txBody>
                  <a:tcPr marL="62861" marR="62861" marT="31430" marB="31430" anchor="ctr"/>
                </a:tc>
                <a:tc>
                  <a:txBody>
                    <a:bodyPr/>
                    <a:lstStyle/>
                    <a:p>
                      <a:r>
                        <a:rPr lang="en-IN" sz="1200" dirty="0"/>
                        <a:t>Food and beverages</a:t>
                      </a:r>
                    </a:p>
                  </a:txBody>
                  <a:tcPr marL="62861" marR="62861" marT="31430" marB="31430" anchor="ctr"/>
                </a:tc>
                <a:tc>
                  <a:txBody>
                    <a:bodyPr/>
                    <a:lstStyle/>
                    <a:p>
                      <a:r>
                        <a:rPr lang="en-IN" sz="1200" dirty="0"/>
                        <a:t>21503</a:t>
                      </a:r>
                    </a:p>
                  </a:txBody>
                  <a:tcPr marL="62861" marR="62861" marT="31430" marB="31430" anchor="ctr"/>
                </a:tc>
                <a:extLst>
                  <a:ext uri="{0D108BD9-81ED-4DB2-BD59-A6C34878D82A}">
                    <a16:rowId xmlns:a16="http://schemas.microsoft.com/office/drawing/2014/main" val="1632759477"/>
                  </a:ext>
                </a:extLst>
              </a:tr>
              <a:tr h="206442">
                <a:tc>
                  <a:txBody>
                    <a:bodyPr/>
                    <a:lstStyle/>
                    <a:p>
                      <a:r>
                        <a:rPr lang="en-IN" sz="1200" dirty="0"/>
                        <a:t>C</a:t>
                      </a:r>
                    </a:p>
                  </a:txBody>
                  <a:tcPr marL="62861" marR="62861" marT="31430" marB="31430" anchor="ctr"/>
                </a:tc>
                <a:tc>
                  <a:txBody>
                    <a:bodyPr/>
                    <a:lstStyle/>
                    <a:p>
                      <a:r>
                        <a:rPr lang="en-IN" sz="1200" dirty="0"/>
                        <a:t>Fashion accessories</a:t>
                      </a:r>
                    </a:p>
                  </a:txBody>
                  <a:tcPr marL="62861" marR="62861" marT="31430" marB="31430" anchor="ctr"/>
                </a:tc>
                <a:tc>
                  <a:txBody>
                    <a:bodyPr/>
                    <a:lstStyle/>
                    <a:p>
                      <a:r>
                        <a:rPr lang="en-IN" sz="1200" dirty="0"/>
                        <a:t>19507</a:t>
                      </a:r>
                    </a:p>
                  </a:txBody>
                  <a:tcPr marL="62861" marR="62861" marT="31430" marB="31430" anchor="ctr"/>
                </a:tc>
                <a:extLst>
                  <a:ext uri="{0D108BD9-81ED-4DB2-BD59-A6C34878D82A}">
                    <a16:rowId xmlns:a16="http://schemas.microsoft.com/office/drawing/2014/main" val="2464004134"/>
                  </a:ext>
                </a:extLst>
              </a:tr>
              <a:tr h="206442">
                <a:tc>
                  <a:txBody>
                    <a:bodyPr/>
                    <a:lstStyle/>
                    <a:p>
                      <a:r>
                        <a:rPr lang="en-IN" sz="1200" dirty="0"/>
                        <a:t>C</a:t>
                      </a:r>
                    </a:p>
                  </a:txBody>
                  <a:tcPr marL="62861" marR="62861" marT="31430" marB="31430" anchor="ctr"/>
                </a:tc>
                <a:tc>
                  <a:txBody>
                    <a:bodyPr/>
                    <a:lstStyle/>
                    <a:p>
                      <a:r>
                        <a:rPr lang="en-IN" sz="1200" dirty="0"/>
                        <a:t>Electronic accessories</a:t>
                      </a:r>
                    </a:p>
                  </a:txBody>
                  <a:tcPr marL="62861" marR="62861" marT="31430" marB="31430" anchor="ctr"/>
                </a:tc>
                <a:tc>
                  <a:txBody>
                    <a:bodyPr/>
                    <a:lstStyle/>
                    <a:p>
                      <a:r>
                        <a:rPr lang="en-IN" sz="1200" dirty="0"/>
                        <a:t>17162</a:t>
                      </a:r>
                    </a:p>
                  </a:txBody>
                  <a:tcPr marL="62861" marR="62861" marT="31430" marB="31430" anchor="ctr"/>
                </a:tc>
                <a:extLst>
                  <a:ext uri="{0D108BD9-81ED-4DB2-BD59-A6C34878D82A}">
                    <a16:rowId xmlns:a16="http://schemas.microsoft.com/office/drawing/2014/main" val="3887957166"/>
                  </a:ext>
                </a:extLst>
              </a:tr>
              <a:tr h="206442">
                <a:tc>
                  <a:txBody>
                    <a:bodyPr/>
                    <a:lstStyle/>
                    <a:p>
                      <a:r>
                        <a:rPr lang="en-IN" sz="1200" dirty="0"/>
                        <a:t>C</a:t>
                      </a:r>
                    </a:p>
                  </a:txBody>
                  <a:tcPr marL="62861" marR="62861" marT="31430" marB="31430" anchor="ctr"/>
                </a:tc>
                <a:tc>
                  <a:txBody>
                    <a:bodyPr/>
                    <a:lstStyle/>
                    <a:p>
                      <a:r>
                        <a:rPr lang="en-IN" sz="1200" dirty="0"/>
                        <a:t>Health and beauty</a:t>
                      </a:r>
                    </a:p>
                  </a:txBody>
                  <a:tcPr marL="62861" marR="62861" marT="31430" marB="31430" anchor="ctr"/>
                </a:tc>
                <a:tc>
                  <a:txBody>
                    <a:bodyPr/>
                    <a:lstStyle/>
                    <a:p>
                      <a:r>
                        <a:rPr lang="en-IN" sz="1200" dirty="0"/>
                        <a:t>15033</a:t>
                      </a:r>
                    </a:p>
                  </a:txBody>
                  <a:tcPr marL="62861" marR="62861" marT="31430" marB="31430" anchor="ctr"/>
                </a:tc>
                <a:extLst>
                  <a:ext uri="{0D108BD9-81ED-4DB2-BD59-A6C34878D82A}">
                    <a16:rowId xmlns:a16="http://schemas.microsoft.com/office/drawing/2014/main" val="3610839205"/>
                  </a:ext>
                </a:extLst>
              </a:tr>
              <a:tr h="206442">
                <a:tc>
                  <a:txBody>
                    <a:bodyPr/>
                    <a:lstStyle/>
                    <a:p>
                      <a:r>
                        <a:rPr lang="en-IN" sz="1200" dirty="0"/>
                        <a:t>C</a:t>
                      </a:r>
                    </a:p>
                  </a:txBody>
                  <a:tcPr marL="62861" marR="62861" marT="31430" marB="31430" anchor="ctr"/>
                </a:tc>
                <a:tc>
                  <a:txBody>
                    <a:bodyPr/>
                    <a:lstStyle/>
                    <a:p>
                      <a:r>
                        <a:rPr lang="en-IN" sz="1200" dirty="0"/>
                        <a:t>Sports and travel</a:t>
                      </a:r>
                    </a:p>
                  </a:txBody>
                  <a:tcPr marL="62861" marR="62861" marT="31430" marB="31430" anchor="ctr"/>
                </a:tc>
                <a:tc>
                  <a:txBody>
                    <a:bodyPr/>
                    <a:lstStyle/>
                    <a:p>
                      <a:r>
                        <a:rPr lang="en-IN" sz="1200" dirty="0"/>
                        <a:t>14261</a:t>
                      </a:r>
                    </a:p>
                  </a:txBody>
                  <a:tcPr marL="62861" marR="62861" marT="31430" marB="31430" anchor="ctr"/>
                </a:tc>
                <a:extLst>
                  <a:ext uri="{0D108BD9-81ED-4DB2-BD59-A6C34878D82A}">
                    <a16:rowId xmlns:a16="http://schemas.microsoft.com/office/drawing/2014/main" val="4275443971"/>
                  </a:ext>
                </a:extLst>
              </a:tr>
              <a:tr h="206442">
                <a:tc>
                  <a:txBody>
                    <a:bodyPr/>
                    <a:lstStyle/>
                    <a:p>
                      <a:r>
                        <a:rPr lang="en-IN" sz="1200" dirty="0"/>
                        <a:t>C</a:t>
                      </a:r>
                    </a:p>
                  </a:txBody>
                  <a:tcPr marL="62861" marR="62861" marT="31430" marB="31430" anchor="ctr"/>
                </a:tc>
                <a:tc>
                  <a:txBody>
                    <a:bodyPr/>
                    <a:lstStyle/>
                    <a:p>
                      <a:r>
                        <a:rPr lang="en-IN" sz="1200" dirty="0"/>
                        <a:t>Home and lifestyle</a:t>
                      </a:r>
                    </a:p>
                  </a:txBody>
                  <a:tcPr marL="62861" marR="62861" marT="31430" marB="31430" anchor="ctr"/>
                </a:tc>
                <a:tc>
                  <a:txBody>
                    <a:bodyPr/>
                    <a:lstStyle/>
                    <a:p>
                      <a:r>
                        <a:rPr lang="en-IN" sz="1200" dirty="0"/>
                        <a:t>12572</a:t>
                      </a:r>
                    </a:p>
                  </a:txBody>
                  <a:tcPr marL="62861" marR="62861" marT="31430" marB="31430" anchor="ctr"/>
                </a:tc>
                <a:extLst>
                  <a:ext uri="{0D108BD9-81ED-4DB2-BD59-A6C34878D82A}">
                    <a16:rowId xmlns:a16="http://schemas.microsoft.com/office/drawing/2014/main" val="37722693"/>
                  </a:ext>
                </a:extLst>
              </a:tr>
            </a:tbl>
          </a:graphicData>
        </a:graphic>
      </p:graphicFrame>
      <p:graphicFrame>
        <p:nvGraphicFramePr>
          <p:cNvPr id="5" name="Table 4">
            <a:extLst>
              <a:ext uri="{FF2B5EF4-FFF2-40B4-BE49-F238E27FC236}">
                <a16:creationId xmlns:a16="http://schemas.microsoft.com/office/drawing/2014/main" id="{F0815161-1B07-FFCA-63C5-2A323D08317C}"/>
              </a:ext>
            </a:extLst>
          </p:cNvPr>
          <p:cNvGraphicFramePr>
            <a:graphicFrameLocks noGrp="1"/>
          </p:cNvGraphicFramePr>
          <p:nvPr>
            <p:extLst>
              <p:ext uri="{D42A27DB-BD31-4B8C-83A1-F6EECF244321}">
                <p14:modId xmlns:p14="http://schemas.microsoft.com/office/powerpoint/2010/main" val="3592648558"/>
              </p:ext>
            </p:extLst>
          </p:nvPr>
        </p:nvGraphicFramePr>
        <p:xfrm>
          <a:off x="762513" y="928561"/>
          <a:ext cx="7978880" cy="370840"/>
        </p:xfrm>
        <a:graphic>
          <a:graphicData uri="http://schemas.openxmlformats.org/drawingml/2006/table">
            <a:tbl>
              <a:tblPr firstRow="1" bandRow="1">
                <a:tableStyleId>{5C22544A-7EE6-4342-B048-85BDC9FD1C3A}</a:tableStyleId>
              </a:tblPr>
              <a:tblGrid>
                <a:gridCol w="1994720">
                  <a:extLst>
                    <a:ext uri="{9D8B030D-6E8A-4147-A177-3AD203B41FA5}">
                      <a16:colId xmlns:a16="http://schemas.microsoft.com/office/drawing/2014/main" val="4123266390"/>
                    </a:ext>
                  </a:extLst>
                </a:gridCol>
                <a:gridCol w="1994720">
                  <a:extLst>
                    <a:ext uri="{9D8B030D-6E8A-4147-A177-3AD203B41FA5}">
                      <a16:colId xmlns:a16="http://schemas.microsoft.com/office/drawing/2014/main" val="1611227372"/>
                    </a:ext>
                  </a:extLst>
                </a:gridCol>
                <a:gridCol w="1052511">
                  <a:extLst>
                    <a:ext uri="{9D8B030D-6E8A-4147-A177-3AD203B41FA5}">
                      <a16:colId xmlns:a16="http://schemas.microsoft.com/office/drawing/2014/main" val="111336017"/>
                    </a:ext>
                  </a:extLst>
                </a:gridCol>
                <a:gridCol w="2936929">
                  <a:extLst>
                    <a:ext uri="{9D8B030D-6E8A-4147-A177-3AD203B41FA5}">
                      <a16:colId xmlns:a16="http://schemas.microsoft.com/office/drawing/2014/main" val="3017172732"/>
                    </a:ext>
                  </a:extLst>
                </a:gridCol>
              </a:tblGrid>
              <a:tr h="370840">
                <a:tc>
                  <a:txBody>
                    <a:bodyPr/>
                    <a:lstStyle/>
                    <a:p>
                      <a:r>
                        <a:rPr lang="en-US" dirty="0"/>
                        <a:t>Branch</a:t>
                      </a:r>
                      <a:endParaRPr lang="en-IN" dirty="0"/>
                    </a:p>
                  </a:txBody>
                  <a:tcPr/>
                </a:tc>
                <a:tc>
                  <a:txBody>
                    <a:bodyPr/>
                    <a:lstStyle/>
                    <a:p>
                      <a:r>
                        <a:rPr lang="en-US" dirty="0"/>
                        <a:t>           Product_line</a:t>
                      </a:r>
                      <a:endParaRPr lang="en-IN" dirty="0"/>
                    </a:p>
                  </a:txBody>
                  <a:tcPr/>
                </a:tc>
                <a:tc>
                  <a:txBody>
                    <a:bodyPr/>
                    <a:lstStyle/>
                    <a:p>
                      <a:endParaRPr lang="en-IN" dirty="0"/>
                    </a:p>
                  </a:txBody>
                  <a:tcPr/>
                </a:tc>
                <a:tc>
                  <a:txBody>
                    <a:bodyPr/>
                    <a:lstStyle/>
                    <a:p>
                      <a:r>
                        <a:rPr lang="en-US" dirty="0"/>
                        <a:t>  TotalProfit</a:t>
                      </a:r>
                      <a:endParaRPr lang="en-IN" dirty="0"/>
                    </a:p>
                  </a:txBody>
                  <a:tcPr/>
                </a:tc>
                <a:extLst>
                  <a:ext uri="{0D108BD9-81ED-4DB2-BD59-A6C34878D82A}">
                    <a16:rowId xmlns:a16="http://schemas.microsoft.com/office/drawing/2014/main" val="3846481816"/>
                  </a:ext>
                </a:extLst>
              </a:tr>
            </a:tbl>
          </a:graphicData>
        </a:graphic>
      </p:graphicFrame>
    </p:spTree>
    <p:extLst>
      <p:ext uri="{BB962C8B-B14F-4D97-AF65-F5344CB8AC3E}">
        <p14:creationId xmlns:p14="http://schemas.microsoft.com/office/powerpoint/2010/main" val="2232231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491" y="342419"/>
            <a:ext cx="6571343" cy="1295311"/>
          </a:xfrm>
        </p:spPr>
        <p:txBody>
          <a:bodyPr>
            <a:normAutofit fontScale="90000"/>
          </a:bodyPr>
          <a:lstStyle/>
          <a:p>
            <a:r>
              <a:rPr lang="en-US" dirty="0"/>
              <a:t>Task 3 - </a:t>
            </a:r>
            <a:r>
              <a:rPr lang="en-US" sz="3600" dirty="0">
                <a:solidFill>
                  <a:schemeClr val="accent6">
                    <a:lumMod val="75000"/>
                  </a:schemeClr>
                </a:solidFill>
              </a:rPr>
              <a:t>Analyzing Customer Segmentation Based on Spending</a:t>
            </a:r>
            <a:endParaRPr sz="3600" dirty="0">
              <a:solidFill>
                <a:schemeClr val="accent6">
                  <a:lumMod val="75000"/>
                </a:schemeClr>
              </a:solidFill>
            </a:endParaRPr>
          </a:p>
        </p:txBody>
      </p:sp>
      <p:sp>
        <p:nvSpPr>
          <p:cNvPr id="3" name="Content Placeholder 2"/>
          <p:cNvSpPr>
            <a:spLocks noGrp="1"/>
          </p:cNvSpPr>
          <p:nvPr>
            <p:ph idx="1"/>
          </p:nvPr>
        </p:nvSpPr>
        <p:spPr>
          <a:xfrm>
            <a:off x="1443491" y="2015733"/>
            <a:ext cx="6571343" cy="3729974"/>
          </a:xfrm>
        </p:spPr>
        <p:style>
          <a:lnRef idx="1">
            <a:schemeClr val="accent1"/>
          </a:lnRef>
          <a:fillRef idx="3">
            <a:schemeClr val="accent1"/>
          </a:fillRef>
          <a:effectRef idx="2">
            <a:schemeClr val="accent1"/>
          </a:effectRef>
          <a:fontRef idx="minor">
            <a:schemeClr val="lt1"/>
          </a:fontRef>
        </p:style>
        <p:txBody>
          <a:bodyPr>
            <a:normAutofit fontScale="92500" lnSpcReduction="20000"/>
          </a:bodyPr>
          <a:lstStyle/>
          <a:p>
            <a:pPr marL="0" indent="0">
              <a:buNone/>
            </a:pPr>
            <a:r>
              <a:rPr lang="en-US" dirty="0">
                <a:solidFill>
                  <a:schemeClr val="bg1"/>
                </a:solidFill>
              </a:rPr>
              <a:t>Query –</a:t>
            </a:r>
          </a:p>
          <a:p>
            <a:pPr marL="0" indent="0">
              <a:buNone/>
            </a:pPr>
            <a:r>
              <a:rPr lang="en-US" dirty="0">
                <a:solidFill>
                  <a:schemeClr val="accent6">
                    <a:lumMod val="40000"/>
                    <a:lumOff val="60000"/>
                  </a:schemeClr>
                </a:solidFill>
              </a:rPr>
              <a:t>use sql_project;</a:t>
            </a:r>
          </a:p>
          <a:p>
            <a:pPr marL="0" indent="0">
              <a:buNone/>
            </a:pPr>
            <a:r>
              <a:rPr lang="en-US" dirty="0">
                <a:solidFill>
                  <a:schemeClr val="accent6">
                    <a:lumMod val="40000"/>
                    <a:lumOff val="60000"/>
                  </a:schemeClr>
                </a:solidFill>
              </a:rPr>
              <a:t>Select Customer_ID,Branch,Customer_type,Gender,Total,</a:t>
            </a:r>
          </a:p>
          <a:p>
            <a:pPr marL="0" indent="0">
              <a:buNone/>
            </a:pPr>
            <a:r>
              <a:rPr lang="en-US" dirty="0">
                <a:solidFill>
                  <a:schemeClr val="accent6">
                    <a:lumMod val="40000"/>
                    <a:lumOff val="60000"/>
                  </a:schemeClr>
                </a:solidFill>
              </a:rPr>
              <a:t>CASE</a:t>
            </a:r>
          </a:p>
          <a:p>
            <a:pPr marL="0" indent="0">
              <a:buNone/>
            </a:pPr>
            <a:r>
              <a:rPr lang="en-US" dirty="0">
                <a:solidFill>
                  <a:schemeClr val="accent6">
                    <a:lumMod val="40000"/>
                    <a:lumOff val="60000"/>
                  </a:schemeClr>
                </a:solidFill>
              </a:rPr>
              <a:t>WHEN Total BETWEEN 0 AND 300 Then 'Low’</a:t>
            </a:r>
          </a:p>
          <a:p>
            <a:pPr marL="0" indent="0">
              <a:buNone/>
            </a:pPr>
            <a:r>
              <a:rPr lang="en-US" dirty="0">
                <a:solidFill>
                  <a:schemeClr val="accent6">
                    <a:lumMod val="40000"/>
                    <a:lumOff val="60000"/>
                  </a:schemeClr>
                </a:solidFill>
              </a:rPr>
              <a:t>WHEN Total BETWEEN 300 AND 700 Then 'Medium’</a:t>
            </a:r>
          </a:p>
          <a:p>
            <a:pPr marL="0" indent="0">
              <a:buNone/>
            </a:pPr>
            <a:r>
              <a:rPr lang="en-US" dirty="0">
                <a:solidFill>
                  <a:schemeClr val="accent6">
                    <a:lumMod val="40000"/>
                    <a:lumOff val="60000"/>
                  </a:schemeClr>
                </a:solidFill>
              </a:rPr>
              <a:t>Else 'High’ </a:t>
            </a:r>
          </a:p>
          <a:p>
            <a:pPr marL="0" indent="0">
              <a:buNone/>
            </a:pPr>
            <a:r>
              <a:rPr lang="en-US" dirty="0">
                <a:solidFill>
                  <a:schemeClr val="accent6">
                    <a:lumMod val="40000"/>
                    <a:lumOff val="60000"/>
                  </a:schemeClr>
                </a:solidFill>
              </a:rPr>
              <a:t>END AS Spending_Behaviour </a:t>
            </a:r>
          </a:p>
          <a:p>
            <a:pPr marL="0" indent="0">
              <a:buNone/>
            </a:pPr>
            <a:r>
              <a:rPr lang="en-US" dirty="0">
                <a:solidFill>
                  <a:schemeClr val="accent6">
                    <a:lumMod val="40000"/>
                    <a:lumOff val="60000"/>
                  </a:schemeClr>
                </a:solidFill>
              </a:rPr>
              <a:t>from walmartsales;</a:t>
            </a:r>
            <a:endParaRPr dirty="0">
              <a:solidFill>
                <a:schemeClr val="accent6">
                  <a:lumMod val="40000"/>
                  <a:lumOff val="6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62DAA-0D07-F668-9C6A-3971AC15AC8E}"/>
              </a:ext>
            </a:extLst>
          </p:cNvPr>
          <p:cNvSpPr>
            <a:spLocks noGrp="1"/>
          </p:cNvSpPr>
          <p:nvPr>
            <p:ph type="title"/>
          </p:nvPr>
        </p:nvSpPr>
        <p:spPr/>
        <p:txBody>
          <a:bodyPr/>
          <a:lstStyle/>
          <a:p>
            <a:r>
              <a:rPr lang="en-US" dirty="0"/>
              <a:t>Output - </a:t>
            </a:r>
            <a:r>
              <a:rPr lang="en-US" dirty="0">
                <a:solidFill>
                  <a:schemeClr val="accent6">
                    <a:lumMod val="75000"/>
                  </a:schemeClr>
                </a:solidFill>
              </a:rPr>
              <a:t>some of the result</a:t>
            </a:r>
            <a:endParaRPr lang="en-IN" dirty="0">
              <a:solidFill>
                <a:schemeClr val="accent6">
                  <a:lumMod val="75000"/>
                </a:schemeClr>
              </a:solidFill>
            </a:endParaRPr>
          </a:p>
        </p:txBody>
      </p:sp>
      <p:graphicFrame>
        <p:nvGraphicFramePr>
          <p:cNvPr id="5" name="Content Placeholder 4">
            <a:extLst>
              <a:ext uri="{FF2B5EF4-FFF2-40B4-BE49-F238E27FC236}">
                <a16:creationId xmlns:a16="http://schemas.microsoft.com/office/drawing/2014/main" id="{CAFDA0EF-8148-6983-CAA2-FC07BA3B2FFA}"/>
              </a:ext>
            </a:extLst>
          </p:cNvPr>
          <p:cNvGraphicFramePr>
            <a:graphicFrameLocks noGrp="1"/>
          </p:cNvGraphicFramePr>
          <p:nvPr>
            <p:ph idx="1"/>
            <p:extLst>
              <p:ext uri="{D42A27DB-BD31-4B8C-83A1-F6EECF244321}">
                <p14:modId xmlns:p14="http://schemas.microsoft.com/office/powerpoint/2010/main" val="2741887855"/>
              </p:ext>
            </p:extLst>
          </p:nvPr>
        </p:nvGraphicFramePr>
        <p:xfrm>
          <a:off x="358033" y="2400141"/>
          <a:ext cx="8630985" cy="2377440"/>
        </p:xfrm>
        <a:graphic>
          <a:graphicData uri="http://schemas.openxmlformats.org/drawingml/2006/table">
            <a:tbl>
              <a:tblPr>
                <a:tableStyleId>{775DCB02-9BB8-47FD-8907-85C794F793BA}</a:tableStyleId>
              </a:tblPr>
              <a:tblGrid>
                <a:gridCol w="1536022">
                  <a:extLst>
                    <a:ext uri="{9D8B030D-6E8A-4147-A177-3AD203B41FA5}">
                      <a16:colId xmlns:a16="http://schemas.microsoft.com/office/drawing/2014/main" val="3240628060"/>
                    </a:ext>
                  </a:extLst>
                </a:gridCol>
                <a:gridCol w="942745">
                  <a:extLst>
                    <a:ext uri="{9D8B030D-6E8A-4147-A177-3AD203B41FA5}">
                      <a16:colId xmlns:a16="http://schemas.microsoft.com/office/drawing/2014/main" val="49359521"/>
                    </a:ext>
                  </a:extLst>
                </a:gridCol>
                <a:gridCol w="1739200">
                  <a:extLst>
                    <a:ext uri="{9D8B030D-6E8A-4147-A177-3AD203B41FA5}">
                      <a16:colId xmlns:a16="http://schemas.microsoft.com/office/drawing/2014/main" val="2733084345"/>
                    </a:ext>
                  </a:extLst>
                </a:gridCol>
                <a:gridCol w="1536022">
                  <a:extLst>
                    <a:ext uri="{9D8B030D-6E8A-4147-A177-3AD203B41FA5}">
                      <a16:colId xmlns:a16="http://schemas.microsoft.com/office/drawing/2014/main" val="2368178941"/>
                    </a:ext>
                  </a:extLst>
                </a:gridCol>
                <a:gridCol w="1438498">
                  <a:extLst>
                    <a:ext uri="{9D8B030D-6E8A-4147-A177-3AD203B41FA5}">
                      <a16:colId xmlns:a16="http://schemas.microsoft.com/office/drawing/2014/main" val="830002504"/>
                    </a:ext>
                  </a:extLst>
                </a:gridCol>
                <a:gridCol w="1438498">
                  <a:extLst>
                    <a:ext uri="{9D8B030D-6E8A-4147-A177-3AD203B41FA5}">
                      <a16:colId xmlns:a16="http://schemas.microsoft.com/office/drawing/2014/main" val="2397560013"/>
                    </a:ext>
                  </a:extLst>
                </a:gridCol>
              </a:tblGrid>
              <a:tr h="0">
                <a:tc>
                  <a:txBody>
                    <a:bodyPr/>
                    <a:lstStyle/>
                    <a:p>
                      <a:r>
                        <a:rPr lang="en-IN" dirty="0"/>
                        <a:t>2</a:t>
                      </a:r>
                    </a:p>
                  </a:txBody>
                  <a:tcPr anchor="ctr"/>
                </a:tc>
                <a:tc>
                  <a:txBody>
                    <a:bodyPr/>
                    <a:lstStyle/>
                    <a:p>
                      <a:r>
                        <a:rPr lang="en-IN" dirty="0"/>
                        <a:t>A</a:t>
                      </a:r>
                    </a:p>
                  </a:txBody>
                  <a:tcPr anchor="ctr"/>
                </a:tc>
                <a:tc>
                  <a:txBody>
                    <a:bodyPr/>
                    <a:lstStyle/>
                    <a:p>
                      <a:r>
                        <a:rPr lang="en-IN" dirty="0"/>
                        <a:t>Member</a:t>
                      </a:r>
                    </a:p>
                  </a:txBody>
                  <a:tcPr anchor="ctr"/>
                </a:tc>
                <a:tc>
                  <a:txBody>
                    <a:bodyPr/>
                    <a:lstStyle/>
                    <a:p>
                      <a:r>
                        <a:rPr lang="en-IN" dirty="0"/>
                        <a:t>Female</a:t>
                      </a:r>
                    </a:p>
                  </a:txBody>
                  <a:tcPr anchor="ctr"/>
                </a:tc>
                <a:tc>
                  <a:txBody>
                    <a:bodyPr/>
                    <a:lstStyle/>
                    <a:p>
                      <a:r>
                        <a:rPr lang="en-IN" dirty="0"/>
                        <a:t>548.9715</a:t>
                      </a:r>
                    </a:p>
                  </a:txBody>
                  <a:tcPr anchor="ctr"/>
                </a:tc>
                <a:tc>
                  <a:txBody>
                    <a:bodyPr/>
                    <a:lstStyle/>
                    <a:p>
                      <a:r>
                        <a:rPr lang="en-IN" dirty="0"/>
                        <a:t>Medium</a:t>
                      </a:r>
                    </a:p>
                  </a:txBody>
                  <a:tcPr anchor="ctr"/>
                </a:tc>
                <a:extLst>
                  <a:ext uri="{0D108BD9-81ED-4DB2-BD59-A6C34878D82A}">
                    <a16:rowId xmlns:a16="http://schemas.microsoft.com/office/drawing/2014/main" val="3207683585"/>
                  </a:ext>
                </a:extLst>
              </a:tr>
              <a:tr h="0">
                <a:tc>
                  <a:txBody>
                    <a:bodyPr/>
                    <a:lstStyle/>
                    <a:p>
                      <a:r>
                        <a:rPr lang="en-IN" dirty="0"/>
                        <a:t>3</a:t>
                      </a:r>
                    </a:p>
                  </a:txBody>
                  <a:tcPr anchor="ctr"/>
                </a:tc>
                <a:tc>
                  <a:txBody>
                    <a:bodyPr/>
                    <a:lstStyle/>
                    <a:p>
                      <a:r>
                        <a:rPr lang="en-IN" dirty="0"/>
                        <a:t>C</a:t>
                      </a:r>
                    </a:p>
                  </a:txBody>
                  <a:tcPr anchor="ctr"/>
                </a:tc>
                <a:tc>
                  <a:txBody>
                    <a:bodyPr/>
                    <a:lstStyle/>
                    <a:p>
                      <a:r>
                        <a:rPr lang="en-IN" dirty="0"/>
                        <a:t>Normal</a:t>
                      </a:r>
                    </a:p>
                  </a:txBody>
                  <a:tcPr anchor="ctr"/>
                </a:tc>
                <a:tc>
                  <a:txBody>
                    <a:bodyPr/>
                    <a:lstStyle/>
                    <a:p>
                      <a:r>
                        <a:rPr lang="en-IN" dirty="0"/>
                        <a:t>Female</a:t>
                      </a:r>
                    </a:p>
                  </a:txBody>
                  <a:tcPr anchor="ctr"/>
                </a:tc>
                <a:tc>
                  <a:txBody>
                    <a:bodyPr/>
                    <a:lstStyle/>
                    <a:p>
                      <a:r>
                        <a:rPr lang="en-IN" dirty="0"/>
                        <a:t>80.22</a:t>
                      </a:r>
                    </a:p>
                  </a:txBody>
                  <a:tcPr anchor="ctr"/>
                </a:tc>
                <a:tc>
                  <a:txBody>
                    <a:bodyPr/>
                    <a:lstStyle/>
                    <a:p>
                      <a:r>
                        <a:rPr lang="en-IN" dirty="0"/>
                        <a:t>Low</a:t>
                      </a:r>
                    </a:p>
                  </a:txBody>
                  <a:tcPr anchor="ctr"/>
                </a:tc>
                <a:extLst>
                  <a:ext uri="{0D108BD9-81ED-4DB2-BD59-A6C34878D82A}">
                    <a16:rowId xmlns:a16="http://schemas.microsoft.com/office/drawing/2014/main" val="751997374"/>
                  </a:ext>
                </a:extLst>
              </a:tr>
              <a:tr h="0">
                <a:tc>
                  <a:txBody>
                    <a:bodyPr/>
                    <a:lstStyle/>
                    <a:p>
                      <a:r>
                        <a:rPr lang="en-IN" dirty="0"/>
                        <a:t>11</a:t>
                      </a:r>
                    </a:p>
                  </a:txBody>
                  <a:tcPr anchor="ctr"/>
                </a:tc>
                <a:tc>
                  <a:txBody>
                    <a:bodyPr/>
                    <a:lstStyle/>
                    <a:p>
                      <a:r>
                        <a:rPr lang="en-IN" dirty="0"/>
                        <a:t>A</a:t>
                      </a:r>
                    </a:p>
                  </a:txBody>
                  <a:tcPr anchor="ctr"/>
                </a:tc>
                <a:tc>
                  <a:txBody>
                    <a:bodyPr/>
                    <a:lstStyle/>
                    <a:p>
                      <a:r>
                        <a:rPr lang="en-IN" dirty="0"/>
                        <a:t>Normal</a:t>
                      </a:r>
                    </a:p>
                  </a:txBody>
                  <a:tcPr anchor="ctr"/>
                </a:tc>
                <a:tc>
                  <a:txBody>
                    <a:bodyPr/>
                    <a:lstStyle/>
                    <a:p>
                      <a:r>
                        <a:rPr lang="en-IN" dirty="0"/>
                        <a:t>Male</a:t>
                      </a:r>
                    </a:p>
                  </a:txBody>
                  <a:tcPr anchor="ctr"/>
                </a:tc>
                <a:tc>
                  <a:txBody>
                    <a:bodyPr/>
                    <a:lstStyle/>
                    <a:p>
                      <a:r>
                        <a:rPr lang="en-IN" dirty="0"/>
                        <a:t>340.5255</a:t>
                      </a:r>
                    </a:p>
                  </a:txBody>
                  <a:tcPr anchor="ctr"/>
                </a:tc>
                <a:tc>
                  <a:txBody>
                    <a:bodyPr/>
                    <a:lstStyle/>
                    <a:p>
                      <a:r>
                        <a:rPr lang="en-IN" dirty="0"/>
                        <a:t>Medium</a:t>
                      </a:r>
                    </a:p>
                  </a:txBody>
                  <a:tcPr anchor="ctr"/>
                </a:tc>
                <a:extLst>
                  <a:ext uri="{0D108BD9-81ED-4DB2-BD59-A6C34878D82A}">
                    <a16:rowId xmlns:a16="http://schemas.microsoft.com/office/drawing/2014/main" val="3464817416"/>
                  </a:ext>
                </a:extLst>
              </a:tr>
              <a:tr h="0">
                <a:tc>
                  <a:txBody>
                    <a:bodyPr/>
                    <a:lstStyle/>
                    <a:p>
                      <a:r>
                        <a:rPr lang="en-IN" dirty="0"/>
                        <a:t>11</a:t>
                      </a:r>
                    </a:p>
                  </a:txBody>
                  <a:tcPr anchor="ctr"/>
                </a:tc>
                <a:tc>
                  <a:txBody>
                    <a:bodyPr/>
                    <a:lstStyle/>
                    <a:p>
                      <a:r>
                        <a:rPr lang="en-IN" dirty="0"/>
                        <a:t>A</a:t>
                      </a:r>
                    </a:p>
                  </a:txBody>
                  <a:tcPr anchor="ctr"/>
                </a:tc>
                <a:tc>
                  <a:txBody>
                    <a:bodyPr/>
                    <a:lstStyle/>
                    <a:p>
                      <a:r>
                        <a:rPr lang="en-IN" dirty="0"/>
                        <a:t>Member</a:t>
                      </a:r>
                    </a:p>
                  </a:txBody>
                  <a:tcPr anchor="ctr"/>
                </a:tc>
                <a:tc>
                  <a:txBody>
                    <a:bodyPr/>
                    <a:lstStyle/>
                    <a:p>
                      <a:r>
                        <a:rPr lang="en-IN" dirty="0"/>
                        <a:t>Male</a:t>
                      </a:r>
                    </a:p>
                  </a:txBody>
                  <a:tcPr anchor="ctr"/>
                </a:tc>
                <a:tc>
                  <a:txBody>
                    <a:bodyPr/>
                    <a:lstStyle/>
                    <a:p>
                      <a:r>
                        <a:rPr lang="en-IN" dirty="0"/>
                        <a:t>489.048</a:t>
                      </a:r>
                    </a:p>
                  </a:txBody>
                  <a:tcPr anchor="ctr"/>
                </a:tc>
                <a:tc>
                  <a:txBody>
                    <a:bodyPr/>
                    <a:lstStyle/>
                    <a:p>
                      <a:r>
                        <a:rPr lang="en-IN" dirty="0"/>
                        <a:t>Medium</a:t>
                      </a:r>
                    </a:p>
                  </a:txBody>
                  <a:tcPr anchor="ctr"/>
                </a:tc>
                <a:extLst>
                  <a:ext uri="{0D108BD9-81ED-4DB2-BD59-A6C34878D82A}">
                    <a16:rowId xmlns:a16="http://schemas.microsoft.com/office/drawing/2014/main" val="1623988028"/>
                  </a:ext>
                </a:extLst>
              </a:tr>
              <a:tr h="0">
                <a:tc>
                  <a:txBody>
                    <a:bodyPr/>
                    <a:lstStyle/>
                    <a:p>
                      <a:r>
                        <a:rPr lang="en-IN" dirty="0"/>
                        <a:t>9</a:t>
                      </a:r>
                    </a:p>
                  </a:txBody>
                  <a:tcPr anchor="ctr"/>
                </a:tc>
                <a:tc>
                  <a:txBody>
                    <a:bodyPr/>
                    <a:lstStyle/>
                    <a:p>
                      <a:r>
                        <a:rPr lang="en-IN" dirty="0"/>
                        <a:t>A</a:t>
                      </a:r>
                    </a:p>
                  </a:txBody>
                  <a:tcPr anchor="ctr"/>
                </a:tc>
                <a:tc>
                  <a:txBody>
                    <a:bodyPr/>
                    <a:lstStyle/>
                    <a:p>
                      <a:r>
                        <a:rPr lang="en-IN" dirty="0"/>
                        <a:t>Normal</a:t>
                      </a:r>
                    </a:p>
                  </a:txBody>
                  <a:tcPr anchor="ctr"/>
                </a:tc>
                <a:tc>
                  <a:txBody>
                    <a:bodyPr/>
                    <a:lstStyle/>
                    <a:p>
                      <a:r>
                        <a:rPr lang="en-IN" dirty="0"/>
                        <a:t>Male</a:t>
                      </a:r>
                    </a:p>
                  </a:txBody>
                  <a:tcPr anchor="ctr"/>
                </a:tc>
                <a:tc>
                  <a:txBody>
                    <a:bodyPr/>
                    <a:lstStyle/>
                    <a:p>
                      <a:r>
                        <a:rPr lang="en-IN" dirty="0"/>
                        <a:t>634.3785</a:t>
                      </a:r>
                    </a:p>
                  </a:txBody>
                  <a:tcPr anchor="ctr"/>
                </a:tc>
                <a:tc>
                  <a:txBody>
                    <a:bodyPr/>
                    <a:lstStyle/>
                    <a:p>
                      <a:r>
                        <a:rPr lang="en-IN" dirty="0"/>
                        <a:t>Medium</a:t>
                      </a:r>
                    </a:p>
                  </a:txBody>
                  <a:tcPr anchor="ctr"/>
                </a:tc>
                <a:extLst>
                  <a:ext uri="{0D108BD9-81ED-4DB2-BD59-A6C34878D82A}">
                    <a16:rowId xmlns:a16="http://schemas.microsoft.com/office/drawing/2014/main" val="2067496690"/>
                  </a:ext>
                </a:extLst>
              </a:tr>
              <a:tr h="0">
                <a:tc>
                  <a:txBody>
                    <a:bodyPr/>
                    <a:lstStyle/>
                    <a:p>
                      <a:r>
                        <a:rPr lang="en-IN" dirty="0"/>
                        <a:t>13</a:t>
                      </a:r>
                    </a:p>
                  </a:txBody>
                  <a:tcPr anchor="ctr"/>
                </a:tc>
                <a:tc>
                  <a:txBody>
                    <a:bodyPr/>
                    <a:lstStyle/>
                    <a:p>
                      <a:r>
                        <a:rPr lang="en-IN" dirty="0"/>
                        <a:t>C</a:t>
                      </a:r>
                    </a:p>
                  </a:txBody>
                  <a:tcPr anchor="ctr"/>
                </a:tc>
                <a:tc>
                  <a:txBody>
                    <a:bodyPr/>
                    <a:lstStyle/>
                    <a:p>
                      <a:r>
                        <a:rPr lang="en-IN" dirty="0"/>
                        <a:t>Normal</a:t>
                      </a:r>
                    </a:p>
                  </a:txBody>
                  <a:tcPr anchor="ctr"/>
                </a:tc>
                <a:tc>
                  <a:txBody>
                    <a:bodyPr/>
                    <a:lstStyle/>
                    <a:p>
                      <a:r>
                        <a:rPr lang="en-IN" dirty="0"/>
                        <a:t>Male</a:t>
                      </a:r>
                    </a:p>
                  </a:txBody>
                  <a:tcPr anchor="ctr"/>
                </a:tc>
                <a:tc>
                  <a:txBody>
                    <a:bodyPr/>
                    <a:lstStyle/>
                    <a:p>
                      <a:r>
                        <a:rPr lang="en-IN" dirty="0"/>
                        <a:t>627.6165</a:t>
                      </a:r>
                    </a:p>
                  </a:txBody>
                  <a:tcPr anchor="ctr"/>
                </a:tc>
                <a:tc>
                  <a:txBody>
                    <a:bodyPr/>
                    <a:lstStyle/>
                    <a:p>
                      <a:r>
                        <a:rPr lang="en-IN" dirty="0"/>
                        <a:t>Medium</a:t>
                      </a:r>
                    </a:p>
                  </a:txBody>
                  <a:tcPr anchor="ctr"/>
                </a:tc>
                <a:extLst>
                  <a:ext uri="{0D108BD9-81ED-4DB2-BD59-A6C34878D82A}">
                    <a16:rowId xmlns:a16="http://schemas.microsoft.com/office/drawing/2014/main" val="3455985207"/>
                  </a:ext>
                </a:extLst>
              </a:tr>
              <a:tr h="0">
                <a:tc>
                  <a:txBody>
                    <a:bodyPr/>
                    <a:lstStyle/>
                    <a:p>
                      <a:r>
                        <a:rPr lang="en-IN" dirty="0"/>
                        <a:t>1</a:t>
                      </a:r>
                    </a:p>
                  </a:txBody>
                  <a:tcPr anchor="ctr"/>
                </a:tc>
                <a:tc>
                  <a:txBody>
                    <a:bodyPr/>
                    <a:lstStyle/>
                    <a:p>
                      <a:r>
                        <a:rPr lang="en-IN" dirty="0"/>
                        <a:t>A</a:t>
                      </a:r>
                    </a:p>
                  </a:txBody>
                  <a:tcPr anchor="ctr"/>
                </a:tc>
                <a:tc>
                  <a:txBody>
                    <a:bodyPr/>
                    <a:lstStyle/>
                    <a:p>
                      <a:r>
                        <a:rPr lang="en-IN" dirty="0"/>
                        <a:t>Member</a:t>
                      </a:r>
                    </a:p>
                  </a:txBody>
                  <a:tcPr anchor="ctr"/>
                </a:tc>
                <a:tc>
                  <a:txBody>
                    <a:bodyPr/>
                    <a:lstStyle/>
                    <a:p>
                      <a:r>
                        <a:rPr lang="en-IN" dirty="0"/>
                        <a:t>Female</a:t>
                      </a:r>
                    </a:p>
                  </a:txBody>
                  <a:tcPr anchor="ctr"/>
                </a:tc>
                <a:tc>
                  <a:txBody>
                    <a:bodyPr/>
                    <a:lstStyle/>
                    <a:p>
                      <a:r>
                        <a:rPr lang="en-IN" dirty="0"/>
                        <a:t>433.692</a:t>
                      </a:r>
                    </a:p>
                  </a:txBody>
                  <a:tcPr anchor="ctr"/>
                </a:tc>
                <a:tc>
                  <a:txBody>
                    <a:bodyPr/>
                    <a:lstStyle/>
                    <a:p>
                      <a:r>
                        <a:rPr lang="en-IN" dirty="0"/>
                        <a:t>Medium</a:t>
                      </a:r>
                    </a:p>
                  </a:txBody>
                  <a:tcPr anchor="ctr"/>
                </a:tc>
                <a:extLst>
                  <a:ext uri="{0D108BD9-81ED-4DB2-BD59-A6C34878D82A}">
                    <a16:rowId xmlns:a16="http://schemas.microsoft.com/office/drawing/2014/main" val="214937176"/>
                  </a:ext>
                </a:extLst>
              </a:tr>
              <a:tr h="0">
                <a:tc>
                  <a:txBody>
                    <a:bodyPr/>
                    <a:lstStyle/>
                    <a:p>
                      <a:r>
                        <a:rPr lang="en-IN" dirty="0"/>
                        <a:t>3</a:t>
                      </a:r>
                    </a:p>
                  </a:txBody>
                  <a:tcPr anchor="ctr"/>
                </a:tc>
                <a:tc>
                  <a:txBody>
                    <a:bodyPr/>
                    <a:lstStyle/>
                    <a:p>
                      <a:r>
                        <a:rPr lang="en-IN" dirty="0"/>
                        <a:t>C</a:t>
                      </a:r>
                    </a:p>
                  </a:txBody>
                  <a:tcPr anchor="ctr"/>
                </a:tc>
                <a:tc>
                  <a:txBody>
                    <a:bodyPr/>
                    <a:lstStyle/>
                    <a:p>
                      <a:r>
                        <a:rPr lang="en-IN" dirty="0"/>
                        <a:t>Normal</a:t>
                      </a:r>
                    </a:p>
                  </a:txBody>
                  <a:tcPr anchor="ctr"/>
                </a:tc>
                <a:tc>
                  <a:txBody>
                    <a:bodyPr/>
                    <a:lstStyle/>
                    <a:p>
                      <a:r>
                        <a:rPr lang="en-IN" dirty="0"/>
                        <a:t>Female</a:t>
                      </a:r>
                    </a:p>
                  </a:txBody>
                  <a:tcPr anchor="ctr"/>
                </a:tc>
                <a:tc>
                  <a:txBody>
                    <a:bodyPr/>
                    <a:lstStyle/>
                    <a:p>
                      <a:r>
                        <a:rPr lang="en-IN" dirty="0"/>
                        <a:t>772.38</a:t>
                      </a:r>
                    </a:p>
                  </a:txBody>
                  <a:tcPr anchor="ctr"/>
                </a:tc>
                <a:tc>
                  <a:txBody>
                    <a:bodyPr/>
                    <a:lstStyle/>
                    <a:p>
                      <a:r>
                        <a:rPr lang="en-IN" dirty="0"/>
                        <a:t>High</a:t>
                      </a:r>
                    </a:p>
                  </a:txBody>
                  <a:tcPr anchor="ctr"/>
                </a:tc>
                <a:extLst>
                  <a:ext uri="{0D108BD9-81ED-4DB2-BD59-A6C34878D82A}">
                    <a16:rowId xmlns:a16="http://schemas.microsoft.com/office/drawing/2014/main" val="1904147882"/>
                  </a:ext>
                </a:extLst>
              </a:tr>
            </a:tbl>
          </a:graphicData>
        </a:graphic>
      </p:graphicFrame>
      <p:graphicFrame>
        <p:nvGraphicFramePr>
          <p:cNvPr id="8" name="Table 7">
            <a:extLst>
              <a:ext uri="{FF2B5EF4-FFF2-40B4-BE49-F238E27FC236}">
                <a16:creationId xmlns:a16="http://schemas.microsoft.com/office/drawing/2014/main" id="{900EA497-3E0A-0AA2-AD6A-F75F5D3343EC}"/>
              </a:ext>
            </a:extLst>
          </p:cNvPr>
          <p:cNvGraphicFramePr>
            <a:graphicFrameLocks noGrp="1"/>
          </p:cNvGraphicFramePr>
          <p:nvPr>
            <p:extLst>
              <p:ext uri="{D42A27DB-BD31-4B8C-83A1-F6EECF244321}">
                <p14:modId xmlns:p14="http://schemas.microsoft.com/office/powerpoint/2010/main" val="3970793596"/>
              </p:ext>
            </p:extLst>
          </p:nvPr>
        </p:nvGraphicFramePr>
        <p:xfrm>
          <a:off x="358033" y="1704869"/>
          <a:ext cx="8630986" cy="695272"/>
        </p:xfrm>
        <a:graphic>
          <a:graphicData uri="http://schemas.openxmlformats.org/drawingml/2006/table">
            <a:tbl>
              <a:tblPr firstRow="1" bandRow="1">
                <a:tableStyleId>{5C22544A-7EE6-4342-B048-85BDC9FD1C3A}</a:tableStyleId>
              </a:tblPr>
              <a:tblGrid>
                <a:gridCol w="1501674">
                  <a:extLst>
                    <a:ext uri="{9D8B030D-6E8A-4147-A177-3AD203B41FA5}">
                      <a16:colId xmlns:a16="http://schemas.microsoft.com/office/drawing/2014/main" val="2114279628"/>
                    </a:ext>
                  </a:extLst>
                </a:gridCol>
                <a:gridCol w="963640">
                  <a:extLst>
                    <a:ext uri="{9D8B030D-6E8A-4147-A177-3AD203B41FA5}">
                      <a16:colId xmlns:a16="http://schemas.microsoft.com/office/drawing/2014/main" val="1494013162"/>
                    </a:ext>
                  </a:extLst>
                </a:gridCol>
                <a:gridCol w="1686371">
                  <a:extLst>
                    <a:ext uri="{9D8B030D-6E8A-4147-A177-3AD203B41FA5}">
                      <a16:colId xmlns:a16="http://schemas.microsoft.com/office/drawing/2014/main" val="3116627246"/>
                    </a:ext>
                  </a:extLst>
                </a:gridCol>
                <a:gridCol w="1493643">
                  <a:extLst>
                    <a:ext uri="{9D8B030D-6E8A-4147-A177-3AD203B41FA5}">
                      <a16:colId xmlns:a16="http://schemas.microsoft.com/office/drawing/2014/main" val="1117339021"/>
                    </a:ext>
                  </a:extLst>
                </a:gridCol>
                <a:gridCol w="1413340">
                  <a:extLst>
                    <a:ext uri="{9D8B030D-6E8A-4147-A177-3AD203B41FA5}">
                      <a16:colId xmlns:a16="http://schemas.microsoft.com/office/drawing/2014/main" val="3250391281"/>
                    </a:ext>
                  </a:extLst>
                </a:gridCol>
                <a:gridCol w="1572318">
                  <a:extLst>
                    <a:ext uri="{9D8B030D-6E8A-4147-A177-3AD203B41FA5}">
                      <a16:colId xmlns:a16="http://schemas.microsoft.com/office/drawing/2014/main" val="1690393574"/>
                    </a:ext>
                  </a:extLst>
                </a:gridCol>
              </a:tblGrid>
              <a:tr h="695272">
                <a:tc>
                  <a:txBody>
                    <a:bodyPr/>
                    <a:lstStyle/>
                    <a:p>
                      <a:r>
                        <a:rPr lang="en-US" dirty="0"/>
                        <a:t>Customer_ID</a:t>
                      </a:r>
                      <a:endParaRPr lang="en-IN" dirty="0"/>
                    </a:p>
                  </a:txBody>
                  <a:tcPr/>
                </a:tc>
                <a:tc>
                  <a:txBody>
                    <a:bodyPr/>
                    <a:lstStyle/>
                    <a:p>
                      <a:r>
                        <a:rPr lang="en-US" dirty="0"/>
                        <a:t>Branch</a:t>
                      </a:r>
                      <a:endParaRPr lang="en-IN" dirty="0"/>
                    </a:p>
                  </a:txBody>
                  <a:tcPr/>
                </a:tc>
                <a:tc>
                  <a:txBody>
                    <a:bodyPr/>
                    <a:lstStyle/>
                    <a:p>
                      <a:r>
                        <a:rPr lang="en-US" dirty="0"/>
                        <a:t>Customer_type</a:t>
                      </a:r>
                      <a:endParaRPr lang="en-IN" dirty="0"/>
                    </a:p>
                  </a:txBody>
                  <a:tcPr/>
                </a:tc>
                <a:tc>
                  <a:txBody>
                    <a:bodyPr/>
                    <a:lstStyle/>
                    <a:p>
                      <a:r>
                        <a:rPr lang="en-US" dirty="0"/>
                        <a:t>Gender</a:t>
                      </a:r>
                      <a:endParaRPr lang="en-IN" dirty="0"/>
                    </a:p>
                  </a:txBody>
                  <a:tcPr/>
                </a:tc>
                <a:tc>
                  <a:txBody>
                    <a:bodyPr/>
                    <a:lstStyle/>
                    <a:p>
                      <a:r>
                        <a:rPr lang="en-US" dirty="0"/>
                        <a:t>Total</a:t>
                      </a:r>
                      <a:endParaRPr lang="en-IN" dirty="0"/>
                    </a:p>
                  </a:txBody>
                  <a:tcPr/>
                </a:tc>
                <a:tc>
                  <a:txBody>
                    <a:bodyPr/>
                    <a:lstStyle/>
                    <a:p>
                      <a:r>
                        <a:rPr lang="en-US" dirty="0"/>
                        <a:t>Spending_Behaviour</a:t>
                      </a:r>
                      <a:endParaRPr lang="en-IN" dirty="0"/>
                    </a:p>
                  </a:txBody>
                  <a:tcPr/>
                </a:tc>
                <a:extLst>
                  <a:ext uri="{0D108BD9-81ED-4DB2-BD59-A6C34878D82A}">
                    <a16:rowId xmlns:a16="http://schemas.microsoft.com/office/drawing/2014/main" val="4144371429"/>
                  </a:ext>
                </a:extLst>
              </a:tr>
            </a:tbl>
          </a:graphicData>
        </a:graphic>
      </p:graphicFrame>
    </p:spTree>
    <p:extLst>
      <p:ext uri="{BB962C8B-B14F-4D97-AF65-F5344CB8AC3E}">
        <p14:creationId xmlns:p14="http://schemas.microsoft.com/office/powerpoint/2010/main" val="203434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Task 4 - </a:t>
            </a:r>
            <a:r>
              <a:rPr lang="en-US" dirty="0">
                <a:solidFill>
                  <a:schemeClr val="accent6">
                    <a:lumMod val="75000"/>
                  </a:schemeClr>
                </a:solidFill>
              </a:rPr>
              <a:t>Detecting Anomalies in Sales Transactions</a:t>
            </a:r>
            <a:endParaRPr dirty="0">
              <a:solidFill>
                <a:schemeClr val="accent6">
                  <a:lumMod val="75000"/>
                </a:schemeClr>
              </a:solidFill>
            </a:endParaRPr>
          </a:p>
        </p:txBody>
      </p:sp>
      <p:sp>
        <p:nvSpPr>
          <p:cNvPr id="3" name="Content Placeholder 2"/>
          <p:cNvSpPr>
            <a:spLocks noGrp="1"/>
          </p:cNvSpPr>
          <p:nvPr>
            <p:ph idx="1"/>
          </p:nvPr>
        </p:nvSpPr>
        <p:spPr/>
        <p:style>
          <a:lnRef idx="1">
            <a:schemeClr val="accent1"/>
          </a:lnRef>
          <a:fillRef idx="3">
            <a:schemeClr val="accent1"/>
          </a:fillRef>
          <a:effectRef idx="2">
            <a:schemeClr val="accent1"/>
          </a:effectRef>
          <a:fontRef idx="minor">
            <a:schemeClr val="lt1"/>
          </a:fontRef>
        </p:style>
        <p:txBody>
          <a:bodyPr>
            <a:normAutofit fontScale="92500" lnSpcReduction="20000"/>
          </a:bodyPr>
          <a:lstStyle/>
          <a:p>
            <a:pPr marL="0" indent="0">
              <a:buNone/>
            </a:pPr>
            <a:r>
              <a:rPr lang="en-US" dirty="0">
                <a:solidFill>
                  <a:schemeClr val="bg1"/>
                </a:solidFill>
              </a:rPr>
              <a:t>Query –</a:t>
            </a:r>
          </a:p>
          <a:p>
            <a:pPr marL="0" indent="0">
              <a:buNone/>
            </a:pPr>
            <a:r>
              <a:rPr lang="en-IN" dirty="0">
                <a:solidFill>
                  <a:schemeClr val="accent6">
                    <a:lumMod val="40000"/>
                    <a:lumOff val="60000"/>
                  </a:schemeClr>
                </a:solidFill>
              </a:rPr>
              <a:t>use sql_project;</a:t>
            </a:r>
          </a:p>
          <a:p>
            <a:pPr marL="0" indent="0">
              <a:buNone/>
            </a:pPr>
            <a:r>
              <a:rPr lang="en-IN" dirty="0">
                <a:solidFill>
                  <a:schemeClr val="accent6">
                    <a:lumMod val="40000"/>
                    <a:lumOff val="60000"/>
                  </a:schemeClr>
                </a:solidFill>
              </a:rPr>
              <a:t>WITH SalesStats AS </a:t>
            </a:r>
          </a:p>
          <a:p>
            <a:pPr marL="0" indent="0">
              <a:buNone/>
            </a:pPr>
            <a:r>
              <a:rPr lang="en-IN" dirty="0">
                <a:solidFill>
                  <a:schemeClr val="accent6">
                    <a:lumMod val="40000"/>
                    <a:lumOff val="60000"/>
                  </a:schemeClr>
                </a:solidFill>
              </a:rPr>
              <a:t>( SELECT  Product_line, AVG(Total) AS AvgSales,        STDDEV(Total) AS SalesStdDev </a:t>
            </a:r>
          </a:p>
          <a:p>
            <a:pPr marL="0" indent="0">
              <a:buNone/>
            </a:pPr>
            <a:r>
              <a:rPr lang="en-IN" dirty="0">
                <a:solidFill>
                  <a:schemeClr val="accent6">
                    <a:lumMod val="40000"/>
                    <a:lumOff val="60000"/>
                  </a:schemeClr>
                </a:solidFill>
              </a:rPr>
              <a:t>FROM walmartsales GROUP BY Product_line)</a:t>
            </a:r>
          </a:p>
          <a:p>
            <a:pPr marL="0" indent="0">
              <a:buNone/>
            </a:pPr>
            <a:r>
              <a:rPr lang="en-IN" dirty="0">
                <a:solidFill>
                  <a:schemeClr val="accent6">
                    <a:lumMod val="40000"/>
                    <a:lumOff val="60000"/>
                  </a:schemeClr>
                </a:solidFill>
              </a:rPr>
              <a:t>SELECT s.*FROM walmartsales s JOIN SalesStats ss ON s.Product_line = ss.Product_line WHERE ABS(s.Total - ss.AvgSales) &gt; (2 * ss.SalesStdDev);</a:t>
            </a:r>
            <a:endParaRPr dirty="0">
              <a:solidFill>
                <a:schemeClr val="accent6">
                  <a:lumMod val="40000"/>
                  <a:lumOff val="6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B9C49-545E-AC24-C1BA-65031BAD490D}"/>
              </a:ext>
            </a:extLst>
          </p:cNvPr>
          <p:cNvSpPr>
            <a:spLocks noGrp="1"/>
          </p:cNvSpPr>
          <p:nvPr>
            <p:ph type="title"/>
          </p:nvPr>
        </p:nvSpPr>
        <p:spPr>
          <a:xfrm>
            <a:off x="1301829" y="314881"/>
            <a:ext cx="6571343" cy="463041"/>
          </a:xfrm>
        </p:spPr>
        <p:txBody>
          <a:bodyPr>
            <a:normAutofit fontScale="90000"/>
          </a:bodyPr>
          <a:lstStyle/>
          <a:p>
            <a:r>
              <a:rPr lang="en-US" dirty="0"/>
              <a:t>     Output - </a:t>
            </a:r>
            <a:r>
              <a:rPr lang="en-US" dirty="0">
                <a:solidFill>
                  <a:schemeClr val="accent6">
                    <a:lumMod val="75000"/>
                  </a:schemeClr>
                </a:solidFill>
              </a:rPr>
              <a:t>some of result</a:t>
            </a:r>
            <a:endParaRPr lang="en-IN" dirty="0">
              <a:solidFill>
                <a:schemeClr val="accent6">
                  <a:lumMod val="75000"/>
                </a:schemeClr>
              </a:solidFill>
            </a:endParaRPr>
          </a:p>
        </p:txBody>
      </p:sp>
      <p:graphicFrame>
        <p:nvGraphicFramePr>
          <p:cNvPr id="7" name="Content Placeholder 6">
            <a:extLst>
              <a:ext uri="{FF2B5EF4-FFF2-40B4-BE49-F238E27FC236}">
                <a16:creationId xmlns:a16="http://schemas.microsoft.com/office/drawing/2014/main" id="{185E505F-AE33-153D-01D1-CA45B55DF8D2}"/>
              </a:ext>
            </a:extLst>
          </p:cNvPr>
          <p:cNvGraphicFramePr>
            <a:graphicFrameLocks noGrp="1"/>
          </p:cNvGraphicFramePr>
          <p:nvPr>
            <p:ph idx="1"/>
            <p:extLst>
              <p:ext uri="{D42A27DB-BD31-4B8C-83A1-F6EECF244321}">
                <p14:modId xmlns:p14="http://schemas.microsoft.com/office/powerpoint/2010/main" val="1317627483"/>
              </p:ext>
            </p:extLst>
          </p:nvPr>
        </p:nvGraphicFramePr>
        <p:xfrm>
          <a:off x="185976" y="1061113"/>
          <a:ext cx="8772048" cy="4735774"/>
        </p:xfrm>
        <a:graphic>
          <a:graphicData uri="http://schemas.openxmlformats.org/drawingml/2006/table">
            <a:tbl>
              <a:tblPr>
                <a:tableStyleId>{775DCB02-9BB8-47FD-8907-85C794F793BA}</a:tableStyleId>
              </a:tblPr>
              <a:tblGrid>
                <a:gridCol w="487336">
                  <a:extLst>
                    <a:ext uri="{9D8B030D-6E8A-4147-A177-3AD203B41FA5}">
                      <a16:colId xmlns:a16="http://schemas.microsoft.com/office/drawing/2014/main" val="2911092963"/>
                    </a:ext>
                  </a:extLst>
                </a:gridCol>
                <a:gridCol w="487336">
                  <a:extLst>
                    <a:ext uri="{9D8B030D-6E8A-4147-A177-3AD203B41FA5}">
                      <a16:colId xmlns:a16="http://schemas.microsoft.com/office/drawing/2014/main" val="2519209966"/>
                    </a:ext>
                  </a:extLst>
                </a:gridCol>
                <a:gridCol w="487336">
                  <a:extLst>
                    <a:ext uri="{9D8B030D-6E8A-4147-A177-3AD203B41FA5}">
                      <a16:colId xmlns:a16="http://schemas.microsoft.com/office/drawing/2014/main" val="3707887079"/>
                    </a:ext>
                  </a:extLst>
                </a:gridCol>
                <a:gridCol w="487336">
                  <a:extLst>
                    <a:ext uri="{9D8B030D-6E8A-4147-A177-3AD203B41FA5}">
                      <a16:colId xmlns:a16="http://schemas.microsoft.com/office/drawing/2014/main" val="767925442"/>
                    </a:ext>
                  </a:extLst>
                </a:gridCol>
                <a:gridCol w="487336">
                  <a:extLst>
                    <a:ext uri="{9D8B030D-6E8A-4147-A177-3AD203B41FA5}">
                      <a16:colId xmlns:a16="http://schemas.microsoft.com/office/drawing/2014/main" val="2384118989"/>
                    </a:ext>
                  </a:extLst>
                </a:gridCol>
                <a:gridCol w="487336">
                  <a:extLst>
                    <a:ext uri="{9D8B030D-6E8A-4147-A177-3AD203B41FA5}">
                      <a16:colId xmlns:a16="http://schemas.microsoft.com/office/drawing/2014/main" val="1369835313"/>
                    </a:ext>
                  </a:extLst>
                </a:gridCol>
                <a:gridCol w="487336">
                  <a:extLst>
                    <a:ext uri="{9D8B030D-6E8A-4147-A177-3AD203B41FA5}">
                      <a16:colId xmlns:a16="http://schemas.microsoft.com/office/drawing/2014/main" val="2884450744"/>
                    </a:ext>
                  </a:extLst>
                </a:gridCol>
                <a:gridCol w="487336">
                  <a:extLst>
                    <a:ext uri="{9D8B030D-6E8A-4147-A177-3AD203B41FA5}">
                      <a16:colId xmlns:a16="http://schemas.microsoft.com/office/drawing/2014/main" val="1665786937"/>
                    </a:ext>
                  </a:extLst>
                </a:gridCol>
                <a:gridCol w="487336">
                  <a:extLst>
                    <a:ext uri="{9D8B030D-6E8A-4147-A177-3AD203B41FA5}">
                      <a16:colId xmlns:a16="http://schemas.microsoft.com/office/drawing/2014/main" val="3128554290"/>
                    </a:ext>
                  </a:extLst>
                </a:gridCol>
                <a:gridCol w="487336">
                  <a:extLst>
                    <a:ext uri="{9D8B030D-6E8A-4147-A177-3AD203B41FA5}">
                      <a16:colId xmlns:a16="http://schemas.microsoft.com/office/drawing/2014/main" val="3887500172"/>
                    </a:ext>
                  </a:extLst>
                </a:gridCol>
                <a:gridCol w="487336">
                  <a:extLst>
                    <a:ext uri="{9D8B030D-6E8A-4147-A177-3AD203B41FA5}">
                      <a16:colId xmlns:a16="http://schemas.microsoft.com/office/drawing/2014/main" val="576067097"/>
                    </a:ext>
                  </a:extLst>
                </a:gridCol>
                <a:gridCol w="487336">
                  <a:extLst>
                    <a:ext uri="{9D8B030D-6E8A-4147-A177-3AD203B41FA5}">
                      <a16:colId xmlns:a16="http://schemas.microsoft.com/office/drawing/2014/main" val="2776120"/>
                    </a:ext>
                  </a:extLst>
                </a:gridCol>
                <a:gridCol w="487336">
                  <a:extLst>
                    <a:ext uri="{9D8B030D-6E8A-4147-A177-3AD203B41FA5}">
                      <a16:colId xmlns:a16="http://schemas.microsoft.com/office/drawing/2014/main" val="2710725691"/>
                    </a:ext>
                  </a:extLst>
                </a:gridCol>
                <a:gridCol w="487336">
                  <a:extLst>
                    <a:ext uri="{9D8B030D-6E8A-4147-A177-3AD203B41FA5}">
                      <a16:colId xmlns:a16="http://schemas.microsoft.com/office/drawing/2014/main" val="2216774702"/>
                    </a:ext>
                  </a:extLst>
                </a:gridCol>
                <a:gridCol w="487336">
                  <a:extLst>
                    <a:ext uri="{9D8B030D-6E8A-4147-A177-3AD203B41FA5}">
                      <a16:colId xmlns:a16="http://schemas.microsoft.com/office/drawing/2014/main" val="849993234"/>
                    </a:ext>
                  </a:extLst>
                </a:gridCol>
                <a:gridCol w="487336">
                  <a:extLst>
                    <a:ext uri="{9D8B030D-6E8A-4147-A177-3AD203B41FA5}">
                      <a16:colId xmlns:a16="http://schemas.microsoft.com/office/drawing/2014/main" val="3515944006"/>
                    </a:ext>
                  </a:extLst>
                </a:gridCol>
                <a:gridCol w="487336">
                  <a:extLst>
                    <a:ext uri="{9D8B030D-6E8A-4147-A177-3AD203B41FA5}">
                      <a16:colId xmlns:a16="http://schemas.microsoft.com/office/drawing/2014/main" val="2990317315"/>
                    </a:ext>
                  </a:extLst>
                </a:gridCol>
                <a:gridCol w="487336">
                  <a:extLst>
                    <a:ext uri="{9D8B030D-6E8A-4147-A177-3AD203B41FA5}">
                      <a16:colId xmlns:a16="http://schemas.microsoft.com/office/drawing/2014/main" val="4107812594"/>
                    </a:ext>
                  </a:extLst>
                </a:gridCol>
              </a:tblGrid>
              <a:tr h="1637058">
                <a:tc>
                  <a:txBody>
                    <a:bodyPr/>
                    <a:lstStyle/>
                    <a:p>
                      <a:r>
                        <a:rPr lang="en-IN" sz="1100" dirty="0"/>
                        <a:t>866-99-7614</a:t>
                      </a:r>
                    </a:p>
                  </a:txBody>
                  <a:tcPr marL="55876" marR="55876" marT="27938" marB="27938" anchor="ctr"/>
                </a:tc>
                <a:tc>
                  <a:txBody>
                    <a:bodyPr/>
                    <a:lstStyle/>
                    <a:p>
                      <a:r>
                        <a:rPr lang="en-IN" sz="1100" dirty="0"/>
                        <a:t>C</a:t>
                      </a:r>
                    </a:p>
                  </a:txBody>
                  <a:tcPr marL="55876" marR="55876" marT="27938" marB="27938" anchor="ctr"/>
                </a:tc>
                <a:tc>
                  <a:txBody>
                    <a:bodyPr/>
                    <a:lstStyle/>
                    <a:p>
                      <a:r>
                        <a:rPr lang="en-IN" sz="1100" dirty="0"/>
                        <a:t>Naypyitaw</a:t>
                      </a:r>
                    </a:p>
                  </a:txBody>
                  <a:tcPr marL="55876" marR="55876" marT="27938" marB="27938" anchor="ctr"/>
                </a:tc>
                <a:tc>
                  <a:txBody>
                    <a:bodyPr/>
                    <a:lstStyle/>
                    <a:p>
                      <a:r>
                        <a:rPr lang="en-IN" sz="1100" dirty="0"/>
                        <a:t>Normal</a:t>
                      </a:r>
                    </a:p>
                  </a:txBody>
                  <a:tcPr marL="55876" marR="55876" marT="27938" marB="27938" anchor="ctr"/>
                </a:tc>
                <a:tc>
                  <a:txBody>
                    <a:bodyPr/>
                    <a:lstStyle/>
                    <a:p>
                      <a:r>
                        <a:rPr lang="en-IN" sz="1100" dirty="0"/>
                        <a:t>Male</a:t>
                      </a:r>
                    </a:p>
                  </a:txBody>
                  <a:tcPr marL="55876" marR="55876" marT="27938" marB="27938" anchor="ctr"/>
                </a:tc>
                <a:tc>
                  <a:txBody>
                    <a:bodyPr/>
                    <a:lstStyle/>
                    <a:p>
                      <a:r>
                        <a:rPr lang="en-IN" sz="1100" dirty="0"/>
                        <a:t>Food and beverages</a:t>
                      </a:r>
                    </a:p>
                  </a:txBody>
                  <a:tcPr marL="55876" marR="55876" marT="27938" marB="27938" anchor="ctr"/>
                </a:tc>
                <a:tc>
                  <a:txBody>
                    <a:bodyPr/>
                    <a:lstStyle/>
                    <a:p>
                      <a:r>
                        <a:rPr lang="en-IN" sz="1100" dirty="0"/>
                        <a:t>89</a:t>
                      </a:r>
                    </a:p>
                  </a:txBody>
                  <a:tcPr marL="55876" marR="55876" marT="27938" marB="27938" anchor="ctr"/>
                </a:tc>
                <a:tc>
                  <a:txBody>
                    <a:bodyPr/>
                    <a:lstStyle/>
                    <a:p>
                      <a:r>
                        <a:rPr lang="en-IN" sz="1100" dirty="0"/>
                        <a:t>10</a:t>
                      </a:r>
                    </a:p>
                  </a:txBody>
                  <a:tcPr marL="55876" marR="55876" marT="27938" marB="27938" anchor="ctr"/>
                </a:tc>
                <a:tc>
                  <a:txBody>
                    <a:bodyPr/>
                    <a:lstStyle/>
                    <a:p>
                      <a:r>
                        <a:rPr lang="en-IN" sz="1100" dirty="0"/>
                        <a:t>45.00</a:t>
                      </a:r>
                    </a:p>
                  </a:txBody>
                  <a:tcPr marL="55876" marR="55876" marT="27938" marB="27938" anchor="ctr"/>
                </a:tc>
                <a:tc>
                  <a:txBody>
                    <a:bodyPr/>
                    <a:lstStyle/>
                    <a:p>
                      <a:r>
                        <a:rPr lang="en-IN" sz="1100" dirty="0"/>
                        <a:t>936.6</a:t>
                      </a:r>
                    </a:p>
                  </a:txBody>
                  <a:tcPr marL="55876" marR="55876" marT="27938" marB="27938" anchor="ctr"/>
                </a:tc>
                <a:tc>
                  <a:txBody>
                    <a:bodyPr/>
                    <a:lstStyle/>
                    <a:p>
                      <a:r>
                        <a:rPr lang="en-IN" sz="1100" dirty="0"/>
                        <a:t>15:42:00</a:t>
                      </a:r>
                    </a:p>
                  </a:txBody>
                  <a:tcPr marL="55876" marR="55876" marT="27938" marB="27938" anchor="ctr"/>
                </a:tc>
                <a:tc>
                  <a:txBody>
                    <a:bodyPr/>
                    <a:lstStyle/>
                    <a:p>
                      <a:r>
                        <a:rPr lang="en-IN" sz="1100" dirty="0"/>
                        <a:t>Credit card</a:t>
                      </a:r>
                    </a:p>
                  </a:txBody>
                  <a:tcPr marL="55876" marR="55876" marT="27938" marB="27938" anchor="ctr"/>
                </a:tc>
                <a:tc>
                  <a:txBody>
                    <a:bodyPr/>
                    <a:lstStyle/>
                    <a:p>
                      <a:r>
                        <a:rPr lang="en-IN" sz="1100" dirty="0"/>
                        <a:t>892</a:t>
                      </a:r>
                    </a:p>
                  </a:txBody>
                  <a:tcPr marL="55876" marR="55876" marT="27938" marB="27938" anchor="ctr"/>
                </a:tc>
                <a:tc>
                  <a:txBody>
                    <a:bodyPr/>
                    <a:lstStyle/>
                    <a:p>
                      <a:r>
                        <a:rPr lang="en-IN" sz="1100" dirty="0"/>
                        <a:t>4.761904762</a:t>
                      </a:r>
                    </a:p>
                  </a:txBody>
                  <a:tcPr marL="55876" marR="55876" marT="27938" marB="27938" anchor="ctr"/>
                </a:tc>
                <a:tc>
                  <a:txBody>
                    <a:bodyPr/>
                    <a:lstStyle/>
                    <a:p>
                      <a:r>
                        <a:rPr lang="en-IN" sz="1100" dirty="0"/>
                        <a:t>44.60</a:t>
                      </a:r>
                    </a:p>
                  </a:txBody>
                  <a:tcPr marL="55876" marR="55876" marT="27938" marB="27938" anchor="ctr"/>
                </a:tc>
                <a:tc>
                  <a:txBody>
                    <a:bodyPr/>
                    <a:lstStyle/>
                    <a:p>
                      <a:r>
                        <a:rPr lang="en-IN" sz="1100" dirty="0"/>
                        <a:t>4.4</a:t>
                      </a:r>
                    </a:p>
                  </a:txBody>
                  <a:tcPr marL="55876" marR="55876" marT="27938" marB="27938" anchor="ctr"/>
                </a:tc>
                <a:tc>
                  <a:txBody>
                    <a:bodyPr/>
                    <a:lstStyle/>
                    <a:p>
                      <a:r>
                        <a:rPr lang="en-IN" sz="1100" dirty="0"/>
                        <a:t>10</a:t>
                      </a:r>
                    </a:p>
                  </a:txBody>
                  <a:tcPr marL="55876" marR="55876" marT="27938" marB="27938" anchor="ctr"/>
                </a:tc>
                <a:tc>
                  <a:txBody>
                    <a:bodyPr/>
                    <a:lstStyle/>
                    <a:p>
                      <a:r>
                        <a:rPr lang="en-IN" sz="1100" dirty="0"/>
                        <a:t>2019-02-11</a:t>
                      </a:r>
                    </a:p>
                  </a:txBody>
                  <a:tcPr marL="55876" marR="55876" marT="27938" marB="27938" anchor="ctr"/>
                </a:tc>
                <a:extLst>
                  <a:ext uri="{0D108BD9-81ED-4DB2-BD59-A6C34878D82A}">
                    <a16:rowId xmlns:a16="http://schemas.microsoft.com/office/drawing/2014/main" val="1326996846"/>
                  </a:ext>
                </a:extLst>
              </a:tr>
              <a:tr h="1637058">
                <a:tc>
                  <a:txBody>
                    <a:bodyPr/>
                    <a:lstStyle/>
                    <a:p>
                      <a:r>
                        <a:rPr lang="en-IN" sz="1100" dirty="0"/>
                        <a:t>861-77-0145</a:t>
                      </a:r>
                    </a:p>
                  </a:txBody>
                  <a:tcPr marL="55876" marR="55876" marT="27938" marB="27938" anchor="ctr"/>
                </a:tc>
                <a:tc>
                  <a:txBody>
                    <a:bodyPr/>
                    <a:lstStyle/>
                    <a:p>
                      <a:r>
                        <a:rPr lang="en-IN" sz="1100" dirty="0"/>
                        <a:t>C</a:t>
                      </a:r>
                    </a:p>
                  </a:txBody>
                  <a:tcPr marL="55876" marR="55876" marT="27938" marB="27938" anchor="ctr"/>
                </a:tc>
                <a:tc>
                  <a:txBody>
                    <a:bodyPr/>
                    <a:lstStyle/>
                    <a:p>
                      <a:r>
                        <a:rPr lang="en-IN" sz="1100" dirty="0"/>
                        <a:t>Naypyitaw</a:t>
                      </a:r>
                    </a:p>
                  </a:txBody>
                  <a:tcPr marL="55876" marR="55876" marT="27938" marB="27938" anchor="ctr"/>
                </a:tc>
                <a:tc>
                  <a:txBody>
                    <a:bodyPr/>
                    <a:lstStyle/>
                    <a:p>
                      <a:r>
                        <a:rPr lang="en-IN" sz="1100" dirty="0"/>
                        <a:t>Member</a:t>
                      </a:r>
                    </a:p>
                  </a:txBody>
                  <a:tcPr marL="55876" marR="55876" marT="27938" marB="27938" anchor="ctr"/>
                </a:tc>
                <a:tc>
                  <a:txBody>
                    <a:bodyPr/>
                    <a:lstStyle/>
                    <a:p>
                      <a:r>
                        <a:rPr lang="en-IN" sz="1100" dirty="0"/>
                        <a:t>Male</a:t>
                      </a:r>
                    </a:p>
                  </a:txBody>
                  <a:tcPr marL="55876" marR="55876" marT="27938" marB="27938" anchor="ctr"/>
                </a:tc>
                <a:tc>
                  <a:txBody>
                    <a:bodyPr/>
                    <a:lstStyle/>
                    <a:p>
                      <a:r>
                        <a:rPr lang="en-IN" sz="1100" dirty="0"/>
                        <a:t>Electronic accessories</a:t>
                      </a:r>
                    </a:p>
                  </a:txBody>
                  <a:tcPr marL="55876" marR="55876" marT="27938" marB="27938" anchor="ctr"/>
                </a:tc>
                <a:tc>
                  <a:txBody>
                    <a:bodyPr/>
                    <a:lstStyle/>
                    <a:p>
                      <a:r>
                        <a:rPr lang="en-IN" sz="1100" dirty="0"/>
                        <a:t>82</a:t>
                      </a:r>
                    </a:p>
                  </a:txBody>
                  <a:tcPr marL="55876" marR="55876" marT="27938" marB="27938" anchor="ctr"/>
                </a:tc>
                <a:tc>
                  <a:txBody>
                    <a:bodyPr/>
                    <a:lstStyle/>
                    <a:p>
                      <a:r>
                        <a:rPr lang="en-IN" sz="1100" dirty="0"/>
                        <a:t>10</a:t>
                      </a:r>
                    </a:p>
                  </a:txBody>
                  <a:tcPr marL="55876" marR="55876" marT="27938" marB="27938" anchor="ctr"/>
                </a:tc>
                <a:tc>
                  <a:txBody>
                    <a:bodyPr/>
                    <a:lstStyle/>
                    <a:p>
                      <a:r>
                        <a:rPr lang="en-IN" sz="1100" dirty="0"/>
                        <a:t>41.00</a:t>
                      </a:r>
                    </a:p>
                  </a:txBody>
                  <a:tcPr marL="55876" marR="55876" marT="27938" marB="27938" anchor="ctr"/>
                </a:tc>
                <a:tc>
                  <a:txBody>
                    <a:bodyPr/>
                    <a:lstStyle/>
                    <a:p>
                      <a:r>
                        <a:rPr lang="en-IN" sz="1100" dirty="0"/>
                        <a:t>860.685</a:t>
                      </a:r>
                    </a:p>
                  </a:txBody>
                  <a:tcPr marL="55876" marR="55876" marT="27938" marB="27938" anchor="ctr"/>
                </a:tc>
                <a:tc>
                  <a:txBody>
                    <a:bodyPr/>
                    <a:lstStyle/>
                    <a:p>
                      <a:r>
                        <a:rPr lang="en-IN" sz="1100" dirty="0"/>
                        <a:t>14:30:00</a:t>
                      </a:r>
                    </a:p>
                  </a:txBody>
                  <a:tcPr marL="55876" marR="55876" marT="27938" marB="27938" anchor="ctr"/>
                </a:tc>
                <a:tc>
                  <a:txBody>
                    <a:bodyPr/>
                    <a:lstStyle/>
                    <a:p>
                      <a:r>
                        <a:rPr lang="en-IN" sz="1100" dirty="0"/>
                        <a:t>Cash</a:t>
                      </a:r>
                    </a:p>
                  </a:txBody>
                  <a:tcPr marL="55876" marR="55876" marT="27938" marB="27938" anchor="ctr"/>
                </a:tc>
                <a:tc>
                  <a:txBody>
                    <a:bodyPr/>
                    <a:lstStyle/>
                    <a:p>
                      <a:r>
                        <a:rPr lang="en-IN" sz="1100" dirty="0"/>
                        <a:t>819.7</a:t>
                      </a:r>
                    </a:p>
                  </a:txBody>
                  <a:tcPr marL="55876" marR="55876" marT="27938" marB="27938" anchor="ctr"/>
                </a:tc>
                <a:tc>
                  <a:txBody>
                    <a:bodyPr/>
                    <a:lstStyle/>
                    <a:p>
                      <a:r>
                        <a:rPr lang="en-IN" sz="1100" dirty="0"/>
                        <a:t>4.761904762</a:t>
                      </a:r>
                    </a:p>
                  </a:txBody>
                  <a:tcPr marL="55876" marR="55876" marT="27938" marB="27938" anchor="ctr"/>
                </a:tc>
                <a:tc>
                  <a:txBody>
                    <a:bodyPr/>
                    <a:lstStyle/>
                    <a:p>
                      <a:r>
                        <a:rPr lang="en-IN" sz="1100" dirty="0"/>
                        <a:t>40.99</a:t>
                      </a:r>
                    </a:p>
                  </a:txBody>
                  <a:tcPr marL="55876" marR="55876" marT="27938" marB="27938" anchor="ctr"/>
                </a:tc>
                <a:tc>
                  <a:txBody>
                    <a:bodyPr/>
                    <a:lstStyle/>
                    <a:p>
                      <a:r>
                        <a:rPr lang="en-IN" sz="1100" dirty="0"/>
                        <a:t>9.2</a:t>
                      </a:r>
                    </a:p>
                  </a:txBody>
                  <a:tcPr marL="55876" marR="55876" marT="27938" marB="27938" anchor="ctr"/>
                </a:tc>
                <a:tc>
                  <a:txBody>
                    <a:bodyPr/>
                    <a:lstStyle/>
                    <a:p>
                      <a:r>
                        <a:rPr lang="en-IN" sz="1100" dirty="0"/>
                        <a:t>7</a:t>
                      </a:r>
                    </a:p>
                  </a:txBody>
                  <a:tcPr marL="55876" marR="55876" marT="27938" marB="27938" anchor="ctr"/>
                </a:tc>
                <a:tc>
                  <a:txBody>
                    <a:bodyPr/>
                    <a:lstStyle/>
                    <a:p>
                      <a:r>
                        <a:rPr lang="en-IN" sz="1100" dirty="0"/>
                        <a:t>2019-03-03</a:t>
                      </a:r>
                    </a:p>
                  </a:txBody>
                  <a:tcPr marL="55876" marR="55876" marT="27938" marB="27938" anchor="ctr"/>
                </a:tc>
                <a:extLst>
                  <a:ext uri="{0D108BD9-81ED-4DB2-BD59-A6C34878D82A}">
                    <a16:rowId xmlns:a16="http://schemas.microsoft.com/office/drawing/2014/main" val="3108428359"/>
                  </a:ext>
                </a:extLst>
              </a:tr>
              <a:tr h="1461658">
                <a:tc>
                  <a:txBody>
                    <a:bodyPr/>
                    <a:lstStyle/>
                    <a:p>
                      <a:r>
                        <a:rPr lang="en-IN" sz="1100" dirty="0"/>
                        <a:t>860-79-0874</a:t>
                      </a:r>
                    </a:p>
                  </a:txBody>
                  <a:tcPr marL="55876" marR="55876" marT="27938" marB="27938" anchor="ctr"/>
                </a:tc>
                <a:tc>
                  <a:txBody>
                    <a:bodyPr/>
                    <a:lstStyle/>
                    <a:p>
                      <a:r>
                        <a:rPr lang="en-IN" sz="1100" dirty="0"/>
                        <a:t>C</a:t>
                      </a:r>
                    </a:p>
                  </a:txBody>
                  <a:tcPr marL="55876" marR="55876" marT="27938" marB="27938" anchor="ctr"/>
                </a:tc>
                <a:tc>
                  <a:txBody>
                    <a:bodyPr/>
                    <a:lstStyle/>
                    <a:p>
                      <a:r>
                        <a:rPr lang="en-IN" sz="1100" dirty="0"/>
                        <a:t>Naypyitaw</a:t>
                      </a:r>
                    </a:p>
                  </a:txBody>
                  <a:tcPr marL="55876" marR="55876" marT="27938" marB="27938" anchor="ctr"/>
                </a:tc>
                <a:tc>
                  <a:txBody>
                    <a:bodyPr/>
                    <a:lstStyle/>
                    <a:p>
                      <a:r>
                        <a:rPr lang="en-IN" sz="1100" dirty="0"/>
                        <a:t>Member</a:t>
                      </a:r>
                    </a:p>
                  </a:txBody>
                  <a:tcPr marL="55876" marR="55876" marT="27938" marB="27938" anchor="ctr"/>
                </a:tc>
                <a:tc>
                  <a:txBody>
                    <a:bodyPr/>
                    <a:lstStyle/>
                    <a:p>
                      <a:r>
                        <a:rPr lang="en-IN" sz="1100" dirty="0"/>
                        <a:t>Female</a:t>
                      </a:r>
                    </a:p>
                  </a:txBody>
                  <a:tcPr marL="55876" marR="55876" marT="27938" marB="27938" anchor="ctr"/>
                </a:tc>
                <a:tc>
                  <a:txBody>
                    <a:bodyPr/>
                    <a:lstStyle/>
                    <a:p>
                      <a:r>
                        <a:rPr lang="en-IN" sz="1100" dirty="0"/>
                        <a:t>Fashion accessories</a:t>
                      </a:r>
                    </a:p>
                  </a:txBody>
                  <a:tcPr marL="55876" marR="55876" marT="27938" marB="27938" anchor="ctr"/>
                </a:tc>
                <a:tc>
                  <a:txBody>
                    <a:bodyPr/>
                    <a:lstStyle/>
                    <a:p>
                      <a:r>
                        <a:rPr lang="en-IN" sz="1100" dirty="0"/>
                        <a:t>99</a:t>
                      </a:r>
                    </a:p>
                  </a:txBody>
                  <a:tcPr marL="55876" marR="55876" marT="27938" marB="27938" anchor="ctr"/>
                </a:tc>
                <a:tc>
                  <a:txBody>
                    <a:bodyPr/>
                    <a:lstStyle/>
                    <a:p>
                      <a:r>
                        <a:rPr lang="en-IN" sz="1100" dirty="0"/>
                        <a:t>10</a:t>
                      </a:r>
                    </a:p>
                  </a:txBody>
                  <a:tcPr marL="55876" marR="55876" marT="27938" marB="27938" anchor="ctr"/>
                </a:tc>
                <a:tc>
                  <a:txBody>
                    <a:bodyPr/>
                    <a:lstStyle/>
                    <a:p>
                      <a:r>
                        <a:rPr lang="en-IN" sz="1100" dirty="0"/>
                        <a:t>50.00</a:t>
                      </a:r>
                    </a:p>
                  </a:txBody>
                  <a:tcPr marL="55876" marR="55876" marT="27938" marB="27938" anchor="ctr"/>
                </a:tc>
                <a:tc>
                  <a:txBody>
                    <a:bodyPr/>
                    <a:lstStyle/>
                    <a:p>
                      <a:r>
                        <a:rPr lang="en-IN" sz="1100" dirty="0"/>
                        <a:t>1042.65</a:t>
                      </a:r>
                    </a:p>
                  </a:txBody>
                  <a:tcPr marL="55876" marR="55876" marT="27938" marB="27938" anchor="ctr"/>
                </a:tc>
                <a:tc>
                  <a:txBody>
                    <a:bodyPr/>
                    <a:lstStyle/>
                    <a:p>
                      <a:r>
                        <a:rPr lang="en-IN" sz="1100" dirty="0"/>
                        <a:t>14:53:00</a:t>
                      </a:r>
                    </a:p>
                  </a:txBody>
                  <a:tcPr marL="55876" marR="55876" marT="27938" marB="27938" anchor="ctr"/>
                </a:tc>
                <a:tc>
                  <a:txBody>
                    <a:bodyPr/>
                    <a:lstStyle/>
                    <a:p>
                      <a:r>
                        <a:rPr lang="en-IN" sz="1100" dirty="0"/>
                        <a:t>Credit card</a:t>
                      </a:r>
                    </a:p>
                  </a:txBody>
                  <a:tcPr marL="55876" marR="55876" marT="27938" marB="27938" anchor="ctr"/>
                </a:tc>
                <a:tc>
                  <a:txBody>
                    <a:bodyPr/>
                    <a:lstStyle/>
                    <a:p>
                      <a:r>
                        <a:rPr lang="en-IN" sz="1100" dirty="0"/>
                        <a:t>993</a:t>
                      </a:r>
                    </a:p>
                  </a:txBody>
                  <a:tcPr marL="55876" marR="55876" marT="27938" marB="27938" anchor="ctr"/>
                </a:tc>
                <a:tc>
                  <a:txBody>
                    <a:bodyPr/>
                    <a:lstStyle/>
                    <a:p>
                      <a:r>
                        <a:rPr lang="en-IN" sz="1100" dirty="0"/>
                        <a:t>4.761904762</a:t>
                      </a:r>
                    </a:p>
                  </a:txBody>
                  <a:tcPr marL="55876" marR="55876" marT="27938" marB="27938" anchor="ctr"/>
                </a:tc>
                <a:tc>
                  <a:txBody>
                    <a:bodyPr/>
                    <a:lstStyle/>
                    <a:p>
                      <a:r>
                        <a:rPr lang="en-IN" sz="1100" dirty="0"/>
                        <a:t>49.65</a:t>
                      </a:r>
                    </a:p>
                  </a:txBody>
                  <a:tcPr marL="55876" marR="55876" marT="27938" marB="27938" anchor="ctr"/>
                </a:tc>
                <a:tc>
                  <a:txBody>
                    <a:bodyPr/>
                    <a:lstStyle/>
                    <a:p>
                      <a:r>
                        <a:rPr lang="en-IN" sz="1100" dirty="0"/>
                        <a:t>6.6</a:t>
                      </a:r>
                    </a:p>
                  </a:txBody>
                  <a:tcPr marL="55876" marR="55876" marT="27938" marB="27938" anchor="ctr"/>
                </a:tc>
                <a:tc>
                  <a:txBody>
                    <a:bodyPr/>
                    <a:lstStyle/>
                    <a:p>
                      <a:r>
                        <a:rPr lang="en-IN" sz="1100" dirty="0"/>
                        <a:t>11</a:t>
                      </a:r>
                    </a:p>
                  </a:txBody>
                  <a:tcPr marL="55876" marR="55876" marT="27938" marB="27938" anchor="ctr"/>
                </a:tc>
                <a:tc>
                  <a:txBody>
                    <a:bodyPr/>
                    <a:lstStyle/>
                    <a:p>
                      <a:r>
                        <a:rPr lang="en-IN" sz="1100" dirty="0"/>
                        <a:t>2019-02-15</a:t>
                      </a:r>
                    </a:p>
                  </a:txBody>
                  <a:tcPr marL="55876" marR="55876" marT="27938" marB="27938" anchor="ctr"/>
                </a:tc>
                <a:extLst>
                  <a:ext uri="{0D108BD9-81ED-4DB2-BD59-A6C34878D82A}">
                    <a16:rowId xmlns:a16="http://schemas.microsoft.com/office/drawing/2014/main" val="2606237036"/>
                  </a:ext>
                </a:extLst>
              </a:tr>
            </a:tbl>
          </a:graphicData>
        </a:graphic>
      </p:graphicFrame>
    </p:spTree>
    <p:extLst>
      <p:ext uri="{BB962C8B-B14F-4D97-AF65-F5344CB8AC3E}">
        <p14:creationId xmlns:p14="http://schemas.microsoft.com/office/powerpoint/2010/main" val="234557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Task 5 - </a:t>
            </a:r>
            <a:r>
              <a:rPr lang="en-US" dirty="0">
                <a:solidFill>
                  <a:schemeClr val="accent6">
                    <a:lumMod val="75000"/>
                  </a:schemeClr>
                </a:solidFill>
              </a:rPr>
              <a:t>Most Popular Payment Method by City</a:t>
            </a:r>
            <a:endParaRPr dirty="0">
              <a:solidFill>
                <a:schemeClr val="accent6">
                  <a:lumMod val="75000"/>
                </a:schemeClr>
              </a:solidFill>
            </a:endParaRPr>
          </a:p>
        </p:txBody>
      </p:sp>
      <p:sp>
        <p:nvSpPr>
          <p:cNvPr id="3" name="Content Placeholder 2"/>
          <p:cNvSpPr>
            <a:spLocks noGrp="1"/>
          </p:cNvSpPr>
          <p:nvPr>
            <p:ph idx="1"/>
          </p:nvPr>
        </p:nvSpPr>
        <p:spPr/>
        <p:style>
          <a:lnRef idx="1">
            <a:schemeClr val="accent1"/>
          </a:lnRef>
          <a:fillRef idx="3">
            <a:schemeClr val="accent1"/>
          </a:fillRef>
          <a:effectRef idx="2">
            <a:schemeClr val="accent1"/>
          </a:effectRef>
          <a:fontRef idx="minor">
            <a:schemeClr val="lt1"/>
          </a:fontRef>
        </p:style>
        <p:txBody>
          <a:bodyPr/>
          <a:lstStyle/>
          <a:p>
            <a:pPr marL="0" indent="0">
              <a:buNone/>
            </a:pPr>
            <a:r>
              <a:rPr lang="en-US" dirty="0">
                <a:solidFill>
                  <a:schemeClr val="bg1"/>
                </a:solidFill>
              </a:rPr>
              <a:t>Query –</a:t>
            </a:r>
          </a:p>
          <a:p>
            <a:pPr marL="0" indent="0">
              <a:buNone/>
            </a:pPr>
            <a:r>
              <a:rPr lang="en-US" dirty="0">
                <a:solidFill>
                  <a:schemeClr val="accent6">
                    <a:lumMod val="40000"/>
                    <a:lumOff val="60000"/>
                  </a:schemeClr>
                </a:solidFill>
              </a:rPr>
              <a:t>use sql_project;</a:t>
            </a:r>
          </a:p>
          <a:p>
            <a:pPr marL="0" indent="0">
              <a:buNone/>
            </a:pPr>
            <a:r>
              <a:rPr lang="en-US" dirty="0">
                <a:solidFill>
                  <a:schemeClr val="accent6">
                    <a:lumMod val="40000"/>
                    <a:lumOff val="60000"/>
                  </a:schemeClr>
                </a:solidFill>
              </a:rPr>
              <a:t>SELECT City, Payment,count(Payment) </a:t>
            </a:r>
          </a:p>
          <a:p>
            <a:pPr marL="0" indent="0">
              <a:buNone/>
            </a:pPr>
            <a:r>
              <a:rPr lang="en-US" dirty="0">
                <a:solidFill>
                  <a:schemeClr val="accent6">
                    <a:lumMod val="40000"/>
                    <a:lumOff val="60000"/>
                  </a:schemeClr>
                </a:solidFill>
              </a:rPr>
              <a:t>AS PaymentCount FROM walmartsales </a:t>
            </a:r>
          </a:p>
          <a:p>
            <a:pPr marL="0" indent="0">
              <a:buNone/>
            </a:pPr>
            <a:r>
              <a:rPr lang="en-US" dirty="0">
                <a:solidFill>
                  <a:schemeClr val="accent6">
                    <a:lumMod val="40000"/>
                    <a:lumOff val="60000"/>
                  </a:schemeClr>
                </a:solidFill>
              </a:rPr>
              <a:t>GROUP BY City, Payment </a:t>
            </a:r>
          </a:p>
          <a:p>
            <a:pPr marL="0" indent="0">
              <a:buNone/>
            </a:pPr>
            <a:r>
              <a:rPr lang="en-US" dirty="0">
                <a:solidFill>
                  <a:schemeClr val="accent6">
                    <a:lumMod val="40000"/>
                    <a:lumOff val="60000"/>
                  </a:schemeClr>
                </a:solidFill>
              </a:rPr>
              <a:t>ORDER BY City, PaymentCount DESC;</a:t>
            </a:r>
            <a:endParaRPr dirty="0">
              <a:solidFill>
                <a:schemeClr val="accent6">
                  <a:lumMod val="40000"/>
                  <a:lumOff val="60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E033B-22B1-6A13-F9E5-216671292C97}"/>
              </a:ext>
            </a:extLst>
          </p:cNvPr>
          <p:cNvSpPr>
            <a:spLocks noGrp="1"/>
          </p:cNvSpPr>
          <p:nvPr>
            <p:ph type="title"/>
          </p:nvPr>
        </p:nvSpPr>
        <p:spPr>
          <a:xfrm>
            <a:off x="1443491" y="804521"/>
            <a:ext cx="6571343" cy="669438"/>
          </a:xfrm>
        </p:spPr>
        <p:txBody>
          <a:bodyPr/>
          <a:lstStyle/>
          <a:p>
            <a:r>
              <a:rPr lang="en-US" dirty="0"/>
              <a:t>                 Output</a:t>
            </a:r>
            <a:endParaRPr lang="en-IN" dirty="0"/>
          </a:p>
        </p:txBody>
      </p:sp>
      <p:graphicFrame>
        <p:nvGraphicFramePr>
          <p:cNvPr id="4" name="Content Placeholder 3">
            <a:extLst>
              <a:ext uri="{FF2B5EF4-FFF2-40B4-BE49-F238E27FC236}">
                <a16:creationId xmlns:a16="http://schemas.microsoft.com/office/drawing/2014/main" id="{41FBD293-E256-F310-4781-41D4D1DEF1E3}"/>
              </a:ext>
            </a:extLst>
          </p:cNvPr>
          <p:cNvGraphicFramePr>
            <a:graphicFrameLocks noGrp="1"/>
          </p:cNvGraphicFramePr>
          <p:nvPr>
            <p:ph idx="1"/>
            <p:extLst>
              <p:ext uri="{D42A27DB-BD31-4B8C-83A1-F6EECF244321}">
                <p14:modId xmlns:p14="http://schemas.microsoft.com/office/powerpoint/2010/main" val="243126227"/>
              </p:ext>
            </p:extLst>
          </p:nvPr>
        </p:nvGraphicFramePr>
        <p:xfrm>
          <a:off x="457201" y="2031030"/>
          <a:ext cx="8229600" cy="2674620"/>
        </p:xfrm>
        <a:graphic>
          <a:graphicData uri="http://schemas.openxmlformats.org/drawingml/2006/table">
            <a:tbl>
              <a:tblPr>
                <a:tableStyleId>{775DCB02-9BB8-47FD-8907-85C794F793BA}</a:tableStyleId>
              </a:tblPr>
              <a:tblGrid>
                <a:gridCol w="2378989">
                  <a:extLst>
                    <a:ext uri="{9D8B030D-6E8A-4147-A177-3AD203B41FA5}">
                      <a16:colId xmlns:a16="http://schemas.microsoft.com/office/drawing/2014/main" val="30639035"/>
                    </a:ext>
                  </a:extLst>
                </a:gridCol>
                <a:gridCol w="3084163">
                  <a:extLst>
                    <a:ext uri="{9D8B030D-6E8A-4147-A177-3AD203B41FA5}">
                      <a16:colId xmlns:a16="http://schemas.microsoft.com/office/drawing/2014/main" val="2639068453"/>
                    </a:ext>
                  </a:extLst>
                </a:gridCol>
                <a:gridCol w="2766448">
                  <a:extLst>
                    <a:ext uri="{9D8B030D-6E8A-4147-A177-3AD203B41FA5}">
                      <a16:colId xmlns:a16="http://schemas.microsoft.com/office/drawing/2014/main" val="3236226261"/>
                    </a:ext>
                  </a:extLst>
                </a:gridCol>
              </a:tblGrid>
              <a:tr h="0">
                <a:tc>
                  <a:txBody>
                    <a:bodyPr/>
                    <a:lstStyle/>
                    <a:p>
                      <a:r>
                        <a:rPr lang="en-IN" dirty="0"/>
                        <a:t>Mandalay</a:t>
                      </a:r>
                    </a:p>
                  </a:txBody>
                  <a:tcPr anchor="ctr"/>
                </a:tc>
                <a:tc>
                  <a:txBody>
                    <a:bodyPr/>
                    <a:lstStyle/>
                    <a:p>
                      <a:r>
                        <a:rPr lang="en-IN" dirty="0"/>
                        <a:t>Ewallet</a:t>
                      </a:r>
                    </a:p>
                  </a:txBody>
                  <a:tcPr anchor="ctr"/>
                </a:tc>
                <a:tc>
                  <a:txBody>
                    <a:bodyPr/>
                    <a:lstStyle/>
                    <a:p>
                      <a:r>
                        <a:rPr lang="en-IN" dirty="0"/>
                        <a:t>113</a:t>
                      </a:r>
                    </a:p>
                  </a:txBody>
                  <a:tcPr anchor="ctr"/>
                </a:tc>
                <a:extLst>
                  <a:ext uri="{0D108BD9-81ED-4DB2-BD59-A6C34878D82A}">
                    <a16:rowId xmlns:a16="http://schemas.microsoft.com/office/drawing/2014/main" val="2533792638"/>
                  </a:ext>
                </a:extLst>
              </a:tr>
              <a:tr h="0">
                <a:tc>
                  <a:txBody>
                    <a:bodyPr/>
                    <a:lstStyle/>
                    <a:p>
                      <a:r>
                        <a:rPr lang="en-IN" dirty="0"/>
                        <a:t>Mandalay</a:t>
                      </a:r>
                    </a:p>
                  </a:txBody>
                  <a:tcPr anchor="ctr"/>
                </a:tc>
                <a:tc>
                  <a:txBody>
                    <a:bodyPr/>
                    <a:lstStyle/>
                    <a:p>
                      <a:r>
                        <a:rPr lang="en-IN" dirty="0"/>
                        <a:t>Cash</a:t>
                      </a:r>
                    </a:p>
                  </a:txBody>
                  <a:tcPr anchor="ctr"/>
                </a:tc>
                <a:tc>
                  <a:txBody>
                    <a:bodyPr/>
                    <a:lstStyle/>
                    <a:p>
                      <a:r>
                        <a:rPr lang="en-IN" dirty="0"/>
                        <a:t>110</a:t>
                      </a:r>
                    </a:p>
                  </a:txBody>
                  <a:tcPr anchor="ctr"/>
                </a:tc>
                <a:extLst>
                  <a:ext uri="{0D108BD9-81ED-4DB2-BD59-A6C34878D82A}">
                    <a16:rowId xmlns:a16="http://schemas.microsoft.com/office/drawing/2014/main" val="3328348426"/>
                  </a:ext>
                </a:extLst>
              </a:tr>
              <a:tr h="0">
                <a:tc>
                  <a:txBody>
                    <a:bodyPr/>
                    <a:lstStyle/>
                    <a:p>
                      <a:r>
                        <a:rPr lang="en-IN" dirty="0"/>
                        <a:t>Mandalay</a:t>
                      </a:r>
                    </a:p>
                  </a:txBody>
                  <a:tcPr anchor="ctr"/>
                </a:tc>
                <a:tc>
                  <a:txBody>
                    <a:bodyPr/>
                    <a:lstStyle/>
                    <a:p>
                      <a:r>
                        <a:rPr lang="en-IN" dirty="0"/>
                        <a:t>Credit card</a:t>
                      </a:r>
                    </a:p>
                  </a:txBody>
                  <a:tcPr anchor="ctr"/>
                </a:tc>
                <a:tc>
                  <a:txBody>
                    <a:bodyPr/>
                    <a:lstStyle/>
                    <a:p>
                      <a:r>
                        <a:rPr lang="en-IN" dirty="0"/>
                        <a:t>109</a:t>
                      </a:r>
                    </a:p>
                  </a:txBody>
                  <a:tcPr anchor="ctr"/>
                </a:tc>
                <a:extLst>
                  <a:ext uri="{0D108BD9-81ED-4DB2-BD59-A6C34878D82A}">
                    <a16:rowId xmlns:a16="http://schemas.microsoft.com/office/drawing/2014/main" val="1300768124"/>
                  </a:ext>
                </a:extLst>
              </a:tr>
              <a:tr h="0">
                <a:tc>
                  <a:txBody>
                    <a:bodyPr/>
                    <a:lstStyle/>
                    <a:p>
                      <a:r>
                        <a:rPr lang="en-IN" dirty="0"/>
                        <a:t>Naypyitaw</a:t>
                      </a:r>
                    </a:p>
                  </a:txBody>
                  <a:tcPr anchor="ctr"/>
                </a:tc>
                <a:tc>
                  <a:txBody>
                    <a:bodyPr/>
                    <a:lstStyle/>
                    <a:p>
                      <a:r>
                        <a:rPr lang="en-IN" dirty="0"/>
                        <a:t>Cash</a:t>
                      </a:r>
                    </a:p>
                  </a:txBody>
                  <a:tcPr anchor="ctr"/>
                </a:tc>
                <a:tc>
                  <a:txBody>
                    <a:bodyPr/>
                    <a:lstStyle/>
                    <a:p>
                      <a:r>
                        <a:rPr lang="en-IN" dirty="0"/>
                        <a:t>124</a:t>
                      </a:r>
                    </a:p>
                  </a:txBody>
                  <a:tcPr anchor="ctr"/>
                </a:tc>
                <a:extLst>
                  <a:ext uri="{0D108BD9-81ED-4DB2-BD59-A6C34878D82A}">
                    <a16:rowId xmlns:a16="http://schemas.microsoft.com/office/drawing/2014/main" val="2561624830"/>
                  </a:ext>
                </a:extLst>
              </a:tr>
              <a:tr h="0">
                <a:tc>
                  <a:txBody>
                    <a:bodyPr/>
                    <a:lstStyle/>
                    <a:p>
                      <a:r>
                        <a:rPr lang="en-IN" dirty="0"/>
                        <a:t>Naypyitaw</a:t>
                      </a:r>
                    </a:p>
                  </a:txBody>
                  <a:tcPr anchor="ctr"/>
                </a:tc>
                <a:tc>
                  <a:txBody>
                    <a:bodyPr/>
                    <a:lstStyle/>
                    <a:p>
                      <a:r>
                        <a:rPr lang="en-IN" dirty="0"/>
                        <a:t>Ewallet</a:t>
                      </a:r>
                    </a:p>
                  </a:txBody>
                  <a:tcPr anchor="ctr"/>
                </a:tc>
                <a:tc>
                  <a:txBody>
                    <a:bodyPr/>
                    <a:lstStyle/>
                    <a:p>
                      <a:r>
                        <a:rPr lang="en-IN" dirty="0"/>
                        <a:t>106</a:t>
                      </a:r>
                    </a:p>
                  </a:txBody>
                  <a:tcPr anchor="ctr"/>
                </a:tc>
                <a:extLst>
                  <a:ext uri="{0D108BD9-81ED-4DB2-BD59-A6C34878D82A}">
                    <a16:rowId xmlns:a16="http://schemas.microsoft.com/office/drawing/2014/main" val="2242414215"/>
                  </a:ext>
                </a:extLst>
              </a:tr>
              <a:tr h="0">
                <a:tc>
                  <a:txBody>
                    <a:bodyPr/>
                    <a:lstStyle/>
                    <a:p>
                      <a:r>
                        <a:rPr lang="en-IN" dirty="0"/>
                        <a:t>Naypyitaw</a:t>
                      </a:r>
                    </a:p>
                  </a:txBody>
                  <a:tcPr anchor="ctr"/>
                </a:tc>
                <a:tc>
                  <a:txBody>
                    <a:bodyPr/>
                    <a:lstStyle/>
                    <a:p>
                      <a:r>
                        <a:rPr lang="en-IN" dirty="0"/>
                        <a:t>Credit card</a:t>
                      </a:r>
                    </a:p>
                  </a:txBody>
                  <a:tcPr anchor="ctr"/>
                </a:tc>
                <a:tc>
                  <a:txBody>
                    <a:bodyPr/>
                    <a:lstStyle/>
                    <a:p>
                      <a:r>
                        <a:rPr lang="en-IN" dirty="0"/>
                        <a:t>98</a:t>
                      </a:r>
                    </a:p>
                  </a:txBody>
                  <a:tcPr anchor="ctr"/>
                </a:tc>
                <a:extLst>
                  <a:ext uri="{0D108BD9-81ED-4DB2-BD59-A6C34878D82A}">
                    <a16:rowId xmlns:a16="http://schemas.microsoft.com/office/drawing/2014/main" val="2181630067"/>
                  </a:ext>
                </a:extLst>
              </a:tr>
              <a:tr h="0">
                <a:tc>
                  <a:txBody>
                    <a:bodyPr/>
                    <a:lstStyle/>
                    <a:p>
                      <a:r>
                        <a:rPr lang="en-IN" dirty="0"/>
                        <a:t>Yangon</a:t>
                      </a:r>
                    </a:p>
                  </a:txBody>
                  <a:tcPr anchor="ctr"/>
                </a:tc>
                <a:tc>
                  <a:txBody>
                    <a:bodyPr/>
                    <a:lstStyle/>
                    <a:p>
                      <a:r>
                        <a:rPr lang="en-IN" dirty="0"/>
                        <a:t>Ewallet</a:t>
                      </a:r>
                    </a:p>
                  </a:txBody>
                  <a:tcPr anchor="ctr"/>
                </a:tc>
                <a:tc>
                  <a:txBody>
                    <a:bodyPr/>
                    <a:lstStyle/>
                    <a:p>
                      <a:r>
                        <a:rPr lang="en-IN" dirty="0"/>
                        <a:t>126</a:t>
                      </a:r>
                    </a:p>
                  </a:txBody>
                  <a:tcPr anchor="ctr"/>
                </a:tc>
                <a:extLst>
                  <a:ext uri="{0D108BD9-81ED-4DB2-BD59-A6C34878D82A}">
                    <a16:rowId xmlns:a16="http://schemas.microsoft.com/office/drawing/2014/main" val="3656692776"/>
                  </a:ext>
                </a:extLst>
              </a:tr>
              <a:tr h="0">
                <a:tc>
                  <a:txBody>
                    <a:bodyPr/>
                    <a:lstStyle/>
                    <a:p>
                      <a:r>
                        <a:rPr lang="en-IN" dirty="0"/>
                        <a:t>Yangon</a:t>
                      </a:r>
                    </a:p>
                  </a:txBody>
                  <a:tcPr anchor="ctr"/>
                </a:tc>
                <a:tc>
                  <a:txBody>
                    <a:bodyPr/>
                    <a:lstStyle/>
                    <a:p>
                      <a:r>
                        <a:rPr lang="en-IN" dirty="0"/>
                        <a:t>Cash</a:t>
                      </a:r>
                    </a:p>
                  </a:txBody>
                  <a:tcPr anchor="ctr"/>
                </a:tc>
                <a:tc>
                  <a:txBody>
                    <a:bodyPr/>
                    <a:lstStyle/>
                    <a:p>
                      <a:r>
                        <a:rPr lang="en-IN" dirty="0"/>
                        <a:t>110</a:t>
                      </a:r>
                    </a:p>
                  </a:txBody>
                  <a:tcPr anchor="ctr"/>
                </a:tc>
                <a:extLst>
                  <a:ext uri="{0D108BD9-81ED-4DB2-BD59-A6C34878D82A}">
                    <a16:rowId xmlns:a16="http://schemas.microsoft.com/office/drawing/2014/main" val="642344734"/>
                  </a:ext>
                </a:extLst>
              </a:tr>
              <a:tr h="0">
                <a:tc>
                  <a:txBody>
                    <a:bodyPr/>
                    <a:lstStyle/>
                    <a:p>
                      <a:r>
                        <a:rPr lang="en-IN" dirty="0"/>
                        <a:t>Yangon</a:t>
                      </a:r>
                    </a:p>
                  </a:txBody>
                  <a:tcPr anchor="ctr"/>
                </a:tc>
                <a:tc>
                  <a:txBody>
                    <a:bodyPr/>
                    <a:lstStyle/>
                    <a:p>
                      <a:r>
                        <a:rPr lang="en-IN" dirty="0"/>
                        <a:t>Credit card</a:t>
                      </a:r>
                    </a:p>
                  </a:txBody>
                  <a:tcPr anchor="ctr"/>
                </a:tc>
                <a:tc>
                  <a:txBody>
                    <a:bodyPr/>
                    <a:lstStyle/>
                    <a:p>
                      <a:r>
                        <a:rPr lang="en-IN" dirty="0"/>
                        <a:t>104</a:t>
                      </a:r>
                    </a:p>
                  </a:txBody>
                  <a:tcPr anchor="ctr"/>
                </a:tc>
                <a:extLst>
                  <a:ext uri="{0D108BD9-81ED-4DB2-BD59-A6C34878D82A}">
                    <a16:rowId xmlns:a16="http://schemas.microsoft.com/office/drawing/2014/main" val="3560400963"/>
                  </a:ext>
                </a:extLst>
              </a:tr>
            </a:tbl>
          </a:graphicData>
        </a:graphic>
      </p:graphicFrame>
      <p:graphicFrame>
        <p:nvGraphicFramePr>
          <p:cNvPr id="5" name="Table 4">
            <a:extLst>
              <a:ext uri="{FF2B5EF4-FFF2-40B4-BE49-F238E27FC236}">
                <a16:creationId xmlns:a16="http://schemas.microsoft.com/office/drawing/2014/main" id="{2F79E720-9881-9D94-8EA5-A3D497F5532F}"/>
              </a:ext>
            </a:extLst>
          </p:cNvPr>
          <p:cNvGraphicFramePr>
            <a:graphicFrameLocks noGrp="1"/>
          </p:cNvGraphicFramePr>
          <p:nvPr>
            <p:extLst>
              <p:ext uri="{D42A27DB-BD31-4B8C-83A1-F6EECF244321}">
                <p14:modId xmlns:p14="http://schemas.microsoft.com/office/powerpoint/2010/main" val="1585852452"/>
              </p:ext>
            </p:extLst>
          </p:nvPr>
        </p:nvGraphicFramePr>
        <p:xfrm>
          <a:off x="457200" y="1660190"/>
          <a:ext cx="8229600" cy="370840"/>
        </p:xfrm>
        <a:graphic>
          <a:graphicData uri="http://schemas.openxmlformats.org/drawingml/2006/table">
            <a:tbl>
              <a:tblPr firstRow="1" bandRow="1">
                <a:tableStyleId>{5C22544A-7EE6-4342-B048-85BDC9FD1C3A}</a:tableStyleId>
              </a:tblPr>
              <a:tblGrid>
                <a:gridCol w="2363492">
                  <a:extLst>
                    <a:ext uri="{9D8B030D-6E8A-4147-A177-3AD203B41FA5}">
                      <a16:colId xmlns:a16="http://schemas.microsoft.com/office/drawing/2014/main" val="3132964490"/>
                    </a:ext>
                  </a:extLst>
                </a:gridCol>
                <a:gridCol w="3122908">
                  <a:extLst>
                    <a:ext uri="{9D8B030D-6E8A-4147-A177-3AD203B41FA5}">
                      <a16:colId xmlns:a16="http://schemas.microsoft.com/office/drawing/2014/main" val="279427872"/>
                    </a:ext>
                  </a:extLst>
                </a:gridCol>
                <a:gridCol w="2743200">
                  <a:extLst>
                    <a:ext uri="{9D8B030D-6E8A-4147-A177-3AD203B41FA5}">
                      <a16:colId xmlns:a16="http://schemas.microsoft.com/office/drawing/2014/main" val="1161542777"/>
                    </a:ext>
                  </a:extLst>
                </a:gridCol>
              </a:tblGrid>
              <a:tr h="370840">
                <a:tc>
                  <a:txBody>
                    <a:bodyPr/>
                    <a:lstStyle/>
                    <a:p>
                      <a:r>
                        <a:rPr lang="en-US" dirty="0"/>
                        <a:t>  City</a:t>
                      </a:r>
                      <a:endParaRPr lang="en-IN" dirty="0"/>
                    </a:p>
                  </a:txBody>
                  <a:tcPr/>
                </a:tc>
                <a:tc>
                  <a:txBody>
                    <a:bodyPr/>
                    <a:lstStyle/>
                    <a:p>
                      <a:r>
                        <a:rPr lang="en-US" dirty="0"/>
                        <a:t>         Payment</a:t>
                      </a:r>
                      <a:endParaRPr lang="en-IN" dirty="0"/>
                    </a:p>
                  </a:txBody>
                  <a:tcPr/>
                </a:tc>
                <a:tc>
                  <a:txBody>
                    <a:bodyPr/>
                    <a:lstStyle/>
                    <a:p>
                      <a:r>
                        <a:rPr lang="en-US" dirty="0"/>
                        <a:t>  PaymentCount</a:t>
                      </a:r>
                      <a:endParaRPr lang="en-IN" dirty="0"/>
                    </a:p>
                  </a:txBody>
                  <a:tcPr/>
                </a:tc>
                <a:extLst>
                  <a:ext uri="{0D108BD9-81ED-4DB2-BD59-A6C34878D82A}">
                    <a16:rowId xmlns:a16="http://schemas.microsoft.com/office/drawing/2014/main" val="1449264805"/>
                  </a:ext>
                </a:extLst>
              </a:tr>
            </a:tbl>
          </a:graphicData>
        </a:graphic>
      </p:graphicFrame>
    </p:spTree>
    <p:extLst>
      <p:ext uri="{BB962C8B-B14F-4D97-AF65-F5344CB8AC3E}">
        <p14:creationId xmlns:p14="http://schemas.microsoft.com/office/powerpoint/2010/main" val="3340739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Task 6 - </a:t>
            </a:r>
            <a:r>
              <a:rPr lang="en-US" dirty="0">
                <a:solidFill>
                  <a:schemeClr val="accent6">
                    <a:lumMod val="75000"/>
                  </a:schemeClr>
                </a:solidFill>
              </a:rPr>
              <a:t>Monthly Sales Distribution by Gender</a:t>
            </a:r>
            <a:endParaRPr dirty="0">
              <a:solidFill>
                <a:schemeClr val="accent6">
                  <a:lumMod val="75000"/>
                </a:schemeClr>
              </a:solidFill>
            </a:endParaRPr>
          </a:p>
        </p:txBody>
      </p:sp>
      <p:sp>
        <p:nvSpPr>
          <p:cNvPr id="3" name="Content Placeholder 2"/>
          <p:cNvSpPr>
            <a:spLocks noGrp="1"/>
          </p:cNvSpPr>
          <p:nvPr>
            <p:ph idx="1"/>
          </p:nvPr>
        </p:nvSpPr>
        <p:spPr/>
        <p:style>
          <a:lnRef idx="1">
            <a:schemeClr val="accent1"/>
          </a:lnRef>
          <a:fillRef idx="3">
            <a:schemeClr val="accent1"/>
          </a:fillRef>
          <a:effectRef idx="2">
            <a:schemeClr val="accent1"/>
          </a:effectRef>
          <a:fontRef idx="minor">
            <a:schemeClr val="lt1"/>
          </a:fontRef>
        </p:style>
        <p:txBody>
          <a:bodyPr/>
          <a:lstStyle/>
          <a:p>
            <a:pPr marL="0" indent="0">
              <a:buNone/>
            </a:pPr>
            <a:r>
              <a:rPr lang="en-US" dirty="0">
                <a:solidFill>
                  <a:schemeClr val="bg1"/>
                </a:solidFill>
              </a:rPr>
              <a:t>Query –</a:t>
            </a:r>
          </a:p>
          <a:p>
            <a:pPr marL="0" indent="0">
              <a:buNone/>
            </a:pPr>
            <a:r>
              <a:rPr lang="en-US" dirty="0">
                <a:solidFill>
                  <a:schemeClr val="accent6">
                    <a:lumMod val="40000"/>
                    <a:lumOff val="60000"/>
                  </a:schemeClr>
                </a:solidFill>
              </a:rPr>
              <a:t>use sql_project;</a:t>
            </a:r>
          </a:p>
          <a:p>
            <a:pPr marL="0" indent="0">
              <a:buNone/>
            </a:pPr>
            <a:r>
              <a:rPr lang="en-US" dirty="0">
                <a:solidFill>
                  <a:schemeClr val="accent6">
                    <a:lumMod val="40000"/>
                    <a:lumOff val="60000"/>
                  </a:schemeClr>
                </a:solidFill>
              </a:rPr>
              <a:t>select Gender, monthname(Date_) </a:t>
            </a:r>
          </a:p>
          <a:p>
            <a:pPr marL="0" indent="0">
              <a:buNone/>
            </a:pPr>
            <a:r>
              <a:rPr lang="en-US" dirty="0">
                <a:solidFill>
                  <a:schemeClr val="accent6">
                    <a:lumMod val="40000"/>
                    <a:lumOff val="60000"/>
                  </a:schemeClr>
                </a:solidFill>
              </a:rPr>
              <a:t>AS Month_Name, ROUND(SUM(Total),0) </a:t>
            </a:r>
          </a:p>
          <a:p>
            <a:pPr marL="0" indent="0">
              <a:buNone/>
            </a:pPr>
            <a:r>
              <a:rPr lang="en-US" dirty="0">
                <a:solidFill>
                  <a:schemeClr val="accent6">
                    <a:lumMod val="40000"/>
                    <a:lumOff val="60000"/>
                  </a:schemeClr>
                </a:solidFill>
              </a:rPr>
              <a:t>AS Total_Sales from walmartsales </a:t>
            </a:r>
          </a:p>
          <a:p>
            <a:pPr marL="0" indent="0">
              <a:buNone/>
            </a:pPr>
            <a:r>
              <a:rPr lang="en-US" dirty="0">
                <a:solidFill>
                  <a:schemeClr val="accent6">
                    <a:lumMod val="40000"/>
                    <a:lumOff val="60000"/>
                  </a:schemeClr>
                </a:solidFill>
              </a:rPr>
              <a:t>group by Gender,Month_Name</a:t>
            </a:r>
          </a:p>
          <a:p>
            <a:pPr marL="0" indent="0">
              <a:buNone/>
            </a:pPr>
            <a:r>
              <a:rPr lang="en-US" dirty="0">
                <a:solidFill>
                  <a:schemeClr val="accent6">
                    <a:lumMod val="40000"/>
                    <a:lumOff val="60000"/>
                  </a:schemeClr>
                </a:solidFill>
              </a:rPr>
              <a:t>Order BY Total_Sales desc;</a:t>
            </a:r>
            <a:endParaRPr dirty="0">
              <a:solidFill>
                <a:schemeClr val="accent6">
                  <a:lumMod val="40000"/>
                  <a:lumOff val="6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2C889-4765-6EC4-781E-362D4E0C465C}"/>
              </a:ext>
            </a:extLst>
          </p:cNvPr>
          <p:cNvSpPr>
            <a:spLocks noGrp="1"/>
          </p:cNvSpPr>
          <p:nvPr>
            <p:ph type="title"/>
          </p:nvPr>
        </p:nvSpPr>
        <p:spPr>
          <a:xfrm>
            <a:off x="1443491" y="804521"/>
            <a:ext cx="6571343" cy="560256"/>
          </a:xfrm>
        </p:spPr>
        <p:txBody>
          <a:bodyPr/>
          <a:lstStyle/>
          <a:p>
            <a:r>
              <a:rPr lang="en-US" dirty="0"/>
              <a:t>                  Output</a:t>
            </a:r>
            <a:endParaRPr lang="en-IN" dirty="0"/>
          </a:p>
        </p:txBody>
      </p:sp>
      <p:graphicFrame>
        <p:nvGraphicFramePr>
          <p:cNvPr id="4" name="Content Placeholder 3">
            <a:extLst>
              <a:ext uri="{FF2B5EF4-FFF2-40B4-BE49-F238E27FC236}">
                <a16:creationId xmlns:a16="http://schemas.microsoft.com/office/drawing/2014/main" id="{1968C569-727C-A354-41B8-1C495D4E4D91}"/>
              </a:ext>
            </a:extLst>
          </p:cNvPr>
          <p:cNvGraphicFramePr>
            <a:graphicFrameLocks noGrp="1"/>
          </p:cNvGraphicFramePr>
          <p:nvPr>
            <p:ph idx="1"/>
            <p:extLst>
              <p:ext uri="{D42A27DB-BD31-4B8C-83A1-F6EECF244321}">
                <p14:modId xmlns:p14="http://schemas.microsoft.com/office/powerpoint/2010/main" val="1900080979"/>
              </p:ext>
            </p:extLst>
          </p:nvPr>
        </p:nvGraphicFramePr>
        <p:xfrm>
          <a:off x="457200" y="1924172"/>
          <a:ext cx="8229600" cy="3169950"/>
        </p:xfrm>
        <a:graphic>
          <a:graphicData uri="http://schemas.openxmlformats.org/drawingml/2006/table">
            <a:tbl>
              <a:tblPr>
                <a:tableStyleId>{775DCB02-9BB8-47FD-8907-85C794F793BA}</a:tableStyleId>
              </a:tblPr>
              <a:tblGrid>
                <a:gridCol w="2743200">
                  <a:extLst>
                    <a:ext uri="{9D8B030D-6E8A-4147-A177-3AD203B41FA5}">
                      <a16:colId xmlns:a16="http://schemas.microsoft.com/office/drawing/2014/main" val="1586417565"/>
                    </a:ext>
                  </a:extLst>
                </a:gridCol>
                <a:gridCol w="2743200">
                  <a:extLst>
                    <a:ext uri="{9D8B030D-6E8A-4147-A177-3AD203B41FA5}">
                      <a16:colId xmlns:a16="http://schemas.microsoft.com/office/drawing/2014/main" val="449260919"/>
                    </a:ext>
                  </a:extLst>
                </a:gridCol>
                <a:gridCol w="2743200">
                  <a:extLst>
                    <a:ext uri="{9D8B030D-6E8A-4147-A177-3AD203B41FA5}">
                      <a16:colId xmlns:a16="http://schemas.microsoft.com/office/drawing/2014/main" val="709211206"/>
                    </a:ext>
                  </a:extLst>
                </a:gridCol>
              </a:tblGrid>
              <a:tr h="528325">
                <a:tc>
                  <a:txBody>
                    <a:bodyPr/>
                    <a:lstStyle/>
                    <a:p>
                      <a:r>
                        <a:rPr lang="en-IN" dirty="0"/>
                        <a:t>Female</a:t>
                      </a:r>
                    </a:p>
                  </a:txBody>
                  <a:tcPr anchor="ctr"/>
                </a:tc>
                <a:tc>
                  <a:txBody>
                    <a:bodyPr/>
                    <a:lstStyle/>
                    <a:p>
                      <a:r>
                        <a:rPr lang="en-IN" dirty="0"/>
                        <a:t>January</a:t>
                      </a:r>
                    </a:p>
                  </a:txBody>
                  <a:tcPr anchor="ctr"/>
                </a:tc>
                <a:tc>
                  <a:txBody>
                    <a:bodyPr/>
                    <a:lstStyle/>
                    <a:p>
                      <a:r>
                        <a:rPr lang="en-IN" dirty="0"/>
                        <a:t>59139</a:t>
                      </a:r>
                    </a:p>
                  </a:txBody>
                  <a:tcPr anchor="ctr"/>
                </a:tc>
                <a:extLst>
                  <a:ext uri="{0D108BD9-81ED-4DB2-BD59-A6C34878D82A}">
                    <a16:rowId xmlns:a16="http://schemas.microsoft.com/office/drawing/2014/main" val="3126803144"/>
                  </a:ext>
                </a:extLst>
              </a:tr>
              <a:tr h="528325">
                <a:tc>
                  <a:txBody>
                    <a:bodyPr/>
                    <a:lstStyle/>
                    <a:p>
                      <a:r>
                        <a:rPr lang="en-IN" dirty="0"/>
                        <a:t>Male</a:t>
                      </a:r>
                    </a:p>
                  </a:txBody>
                  <a:tcPr anchor="ctr"/>
                </a:tc>
                <a:tc>
                  <a:txBody>
                    <a:bodyPr/>
                    <a:lstStyle/>
                    <a:p>
                      <a:r>
                        <a:rPr lang="en-IN" dirty="0"/>
                        <a:t>January</a:t>
                      </a:r>
                    </a:p>
                  </a:txBody>
                  <a:tcPr anchor="ctr"/>
                </a:tc>
                <a:tc>
                  <a:txBody>
                    <a:bodyPr/>
                    <a:lstStyle/>
                    <a:p>
                      <a:r>
                        <a:rPr lang="en-IN" dirty="0"/>
                        <a:t>57153</a:t>
                      </a:r>
                    </a:p>
                  </a:txBody>
                  <a:tcPr anchor="ctr"/>
                </a:tc>
                <a:extLst>
                  <a:ext uri="{0D108BD9-81ED-4DB2-BD59-A6C34878D82A}">
                    <a16:rowId xmlns:a16="http://schemas.microsoft.com/office/drawing/2014/main" val="2560958870"/>
                  </a:ext>
                </a:extLst>
              </a:tr>
              <a:tr h="528325">
                <a:tc>
                  <a:txBody>
                    <a:bodyPr/>
                    <a:lstStyle/>
                    <a:p>
                      <a:r>
                        <a:rPr lang="en-IN" dirty="0"/>
                        <a:t>Male</a:t>
                      </a:r>
                    </a:p>
                  </a:txBody>
                  <a:tcPr anchor="ctr"/>
                </a:tc>
                <a:tc>
                  <a:txBody>
                    <a:bodyPr/>
                    <a:lstStyle/>
                    <a:p>
                      <a:r>
                        <a:rPr lang="en-IN" dirty="0"/>
                        <a:t>March</a:t>
                      </a:r>
                    </a:p>
                  </a:txBody>
                  <a:tcPr anchor="ctr"/>
                </a:tc>
                <a:tc>
                  <a:txBody>
                    <a:bodyPr/>
                    <a:lstStyle/>
                    <a:p>
                      <a:r>
                        <a:rPr lang="en-IN" dirty="0"/>
                        <a:t>57047</a:t>
                      </a:r>
                    </a:p>
                  </a:txBody>
                  <a:tcPr anchor="ctr"/>
                </a:tc>
                <a:extLst>
                  <a:ext uri="{0D108BD9-81ED-4DB2-BD59-A6C34878D82A}">
                    <a16:rowId xmlns:a16="http://schemas.microsoft.com/office/drawing/2014/main" val="1173219878"/>
                  </a:ext>
                </a:extLst>
              </a:tr>
              <a:tr h="528325">
                <a:tc>
                  <a:txBody>
                    <a:bodyPr/>
                    <a:lstStyle/>
                    <a:p>
                      <a:r>
                        <a:rPr lang="en-IN" dirty="0"/>
                        <a:t>Female</a:t>
                      </a:r>
                    </a:p>
                  </a:txBody>
                  <a:tcPr anchor="ctr"/>
                </a:tc>
                <a:tc>
                  <a:txBody>
                    <a:bodyPr/>
                    <a:lstStyle/>
                    <a:p>
                      <a:r>
                        <a:rPr lang="en-IN" dirty="0"/>
                        <a:t>February</a:t>
                      </a:r>
                    </a:p>
                  </a:txBody>
                  <a:tcPr anchor="ctr"/>
                </a:tc>
                <a:tc>
                  <a:txBody>
                    <a:bodyPr/>
                    <a:lstStyle/>
                    <a:p>
                      <a:r>
                        <a:rPr lang="en-IN" dirty="0"/>
                        <a:t>56336</a:t>
                      </a:r>
                    </a:p>
                  </a:txBody>
                  <a:tcPr anchor="ctr"/>
                </a:tc>
                <a:extLst>
                  <a:ext uri="{0D108BD9-81ED-4DB2-BD59-A6C34878D82A}">
                    <a16:rowId xmlns:a16="http://schemas.microsoft.com/office/drawing/2014/main" val="1183701196"/>
                  </a:ext>
                </a:extLst>
              </a:tr>
              <a:tr h="528325">
                <a:tc>
                  <a:txBody>
                    <a:bodyPr/>
                    <a:lstStyle/>
                    <a:p>
                      <a:r>
                        <a:rPr lang="en-IN" dirty="0"/>
                        <a:t>Female</a:t>
                      </a:r>
                    </a:p>
                  </a:txBody>
                  <a:tcPr anchor="ctr"/>
                </a:tc>
                <a:tc>
                  <a:txBody>
                    <a:bodyPr/>
                    <a:lstStyle/>
                    <a:p>
                      <a:r>
                        <a:rPr lang="en-IN" dirty="0"/>
                        <a:t>March</a:t>
                      </a:r>
                    </a:p>
                  </a:txBody>
                  <a:tcPr anchor="ctr"/>
                </a:tc>
                <a:tc>
                  <a:txBody>
                    <a:bodyPr/>
                    <a:lstStyle/>
                    <a:p>
                      <a:r>
                        <a:rPr lang="en-IN" dirty="0"/>
                        <a:t>52408</a:t>
                      </a:r>
                    </a:p>
                  </a:txBody>
                  <a:tcPr anchor="ctr"/>
                </a:tc>
                <a:extLst>
                  <a:ext uri="{0D108BD9-81ED-4DB2-BD59-A6C34878D82A}">
                    <a16:rowId xmlns:a16="http://schemas.microsoft.com/office/drawing/2014/main" val="467202712"/>
                  </a:ext>
                </a:extLst>
              </a:tr>
              <a:tr h="528325">
                <a:tc>
                  <a:txBody>
                    <a:bodyPr/>
                    <a:lstStyle/>
                    <a:p>
                      <a:r>
                        <a:rPr lang="en-IN" dirty="0"/>
                        <a:t>Male</a:t>
                      </a:r>
                    </a:p>
                  </a:txBody>
                  <a:tcPr anchor="ctr"/>
                </a:tc>
                <a:tc>
                  <a:txBody>
                    <a:bodyPr/>
                    <a:lstStyle/>
                    <a:p>
                      <a:r>
                        <a:rPr lang="en-IN" dirty="0"/>
                        <a:t>February</a:t>
                      </a:r>
                    </a:p>
                  </a:txBody>
                  <a:tcPr anchor="ctr"/>
                </a:tc>
                <a:tc>
                  <a:txBody>
                    <a:bodyPr/>
                    <a:lstStyle/>
                    <a:p>
                      <a:r>
                        <a:rPr lang="en-IN" dirty="0"/>
                        <a:t>40884</a:t>
                      </a:r>
                    </a:p>
                  </a:txBody>
                  <a:tcPr anchor="ctr"/>
                </a:tc>
                <a:extLst>
                  <a:ext uri="{0D108BD9-81ED-4DB2-BD59-A6C34878D82A}">
                    <a16:rowId xmlns:a16="http://schemas.microsoft.com/office/drawing/2014/main" val="1256356474"/>
                  </a:ext>
                </a:extLst>
              </a:tr>
            </a:tbl>
          </a:graphicData>
        </a:graphic>
      </p:graphicFrame>
      <p:graphicFrame>
        <p:nvGraphicFramePr>
          <p:cNvPr id="5" name="Table 4">
            <a:extLst>
              <a:ext uri="{FF2B5EF4-FFF2-40B4-BE49-F238E27FC236}">
                <a16:creationId xmlns:a16="http://schemas.microsoft.com/office/drawing/2014/main" id="{F6F67A82-A0D3-DA85-5269-BA3CB6119397}"/>
              </a:ext>
            </a:extLst>
          </p:cNvPr>
          <p:cNvGraphicFramePr>
            <a:graphicFrameLocks noGrp="1"/>
          </p:cNvGraphicFramePr>
          <p:nvPr>
            <p:extLst>
              <p:ext uri="{D42A27DB-BD31-4B8C-83A1-F6EECF244321}">
                <p14:modId xmlns:p14="http://schemas.microsoft.com/office/powerpoint/2010/main" val="925930879"/>
              </p:ext>
            </p:extLst>
          </p:nvPr>
        </p:nvGraphicFramePr>
        <p:xfrm>
          <a:off x="457200" y="1553332"/>
          <a:ext cx="8229600" cy="3708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3868404294"/>
                    </a:ext>
                  </a:extLst>
                </a:gridCol>
                <a:gridCol w="2743200">
                  <a:extLst>
                    <a:ext uri="{9D8B030D-6E8A-4147-A177-3AD203B41FA5}">
                      <a16:colId xmlns:a16="http://schemas.microsoft.com/office/drawing/2014/main" val="1951220087"/>
                    </a:ext>
                  </a:extLst>
                </a:gridCol>
                <a:gridCol w="2743200">
                  <a:extLst>
                    <a:ext uri="{9D8B030D-6E8A-4147-A177-3AD203B41FA5}">
                      <a16:colId xmlns:a16="http://schemas.microsoft.com/office/drawing/2014/main" val="461855598"/>
                    </a:ext>
                  </a:extLst>
                </a:gridCol>
              </a:tblGrid>
              <a:tr h="370840">
                <a:tc>
                  <a:txBody>
                    <a:bodyPr/>
                    <a:lstStyle/>
                    <a:p>
                      <a:r>
                        <a:rPr lang="en-US" dirty="0"/>
                        <a:t>Gender</a:t>
                      </a:r>
                      <a:endParaRPr lang="en-IN" dirty="0"/>
                    </a:p>
                  </a:txBody>
                  <a:tcPr/>
                </a:tc>
                <a:tc>
                  <a:txBody>
                    <a:bodyPr/>
                    <a:lstStyle/>
                    <a:p>
                      <a:r>
                        <a:rPr lang="en-US" dirty="0"/>
                        <a:t>Month_Name</a:t>
                      </a:r>
                      <a:endParaRPr lang="en-IN" dirty="0"/>
                    </a:p>
                  </a:txBody>
                  <a:tcPr/>
                </a:tc>
                <a:tc>
                  <a:txBody>
                    <a:bodyPr/>
                    <a:lstStyle/>
                    <a:p>
                      <a:r>
                        <a:rPr lang="en-US" dirty="0"/>
                        <a:t>Total_Sales</a:t>
                      </a:r>
                      <a:endParaRPr lang="en-IN" dirty="0"/>
                    </a:p>
                  </a:txBody>
                  <a:tcPr/>
                </a:tc>
                <a:extLst>
                  <a:ext uri="{0D108BD9-81ED-4DB2-BD59-A6C34878D82A}">
                    <a16:rowId xmlns:a16="http://schemas.microsoft.com/office/drawing/2014/main" val="2736974655"/>
                  </a:ext>
                </a:extLst>
              </a:tr>
            </a:tbl>
          </a:graphicData>
        </a:graphic>
      </p:graphicFrame>
    </p:spTree>
    <p:extLst>
      <p:ext uri="{BB962C8B-B14F-4D97-AF65-F5344CB8AC3E}">
        <p14:creationId xmlns:p14="http://schemas.microsoft.com/office/powerpoint/2010/main" val="3753998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Task 7 - </a:t>
            </a:r>
            <a:r>
              <a:rPr lang="en-US" dirty="0">
                <a:solidFill>
                  <a:schemeClr val="accent6">
                    <a:lumMod val="75000"/>
                  </a:schemeClr>
                </a:solidFill>
              </a:rPr>
              <a:t>Best Product Line by Customer Type</a:t>
            </a:r>
            <a:endParaRPr dirty="0">
              <a:solidFill>
                <a:schemeClr val="accent6">
                  <a:lumMod val="75000"/>
                </a:schemeClr>
              </a:solidFill>
            </a:endParaRPr>
          </a:p>
        </p:txBody>
      </p:sp>
      <p:sp>
        <p:nvSpPr>
          <p:cNvPr id="3" name="Content Placeholder 2"/>
          <p:cNvSpPr>
            <a:spLocks noGrp="1"/>
          </p:cNvSpPr>
          <p:nvPr>
            <p:ph idx="1"/>
          </p:nvPr>
        </p:nvSpPr>
        <p:spPr/>
        <p:style>
          <a:lnRef idx="1">
            <a:schemeClr val="accent1"/>
          </a:lnRef>
          <a:fillRef idx="3">
            <a:schemeClr val="accent1"/>
          </a:fillRef>
          <a:effectRef idx="2">
            <a:schemeClr val="accent1"/>
          </a:effectRef>
          <a:fontRef idx="minor">
            <a:schemeClr val="lt1"/>
          </a:fontRef>
        </p:style>
        <p:txBody>
          <a:bodyPr/>
          <a:lstStyle/>
          <a:p>
            <a:pPr marL="0" indent="0">
              <a:buNone/>
            </a:pPr>
            <a:r>
              <a:rPr lang="en-US" dirty="0">
                <a:solidFill>
                  <a:schemeClr val="bg1"/>
                </a:solidFill>
              </a:rPr>
              <a:t>Query –</a:t>
            </a:r>
          </a:p>
          <a:p>
            <a:pPr marL="0" indent="0">
              <a:buNone/>
            </a:pPr>
            <a:r>
              <a:rPr lang="en-US" dirty="0">
                <a:solidFill>
                  <a:schemeClr val="accent6">
                    <a:lumMod val="40000"/>
                    <a:lumOff val="60000"/>
                  </a:schemeClr>
                </a:solidFill>
              </a:rPr>
              <a:t>use sql_project;</a:t>
            </a:r>
          </a:p>
          <a:p>
            <a:pPr marL="0" indent="0">
              <a:buNone/>
            </a:pPr>
            <a:r>
              <a:rPr lang="en-US" dirty="0">
                <a:solidFill>
                  <a:schemeClr val="accent6">
                    <a:lumMod val="40000"/>
                    <a:lumOff val="60000"/>
                  </a:schemeClr>
                </a:solidFill>
              </a:rPr>
              <a:t>Select Customer_type,Product_Line,</a:t>
            </a:r>
          </a:p>
          <a:p>
            <a:pPr marL="0" indent="0">
              <a:buNone/>
            </a:pPr>
            <a:r>
              <a:rPr lang="en-US" dirty="0">
                <a:solidFill>
                  <a:schemeClr val="accent6">
                    <a:lumMod val="40000"/>
                    <a:lumOff val="60000"/>
                  </a:schemeClr>
                </a:solidFill>
              </a:rPr>
              <a:t>ROUND(SUM(Total),0) AS Total_Sales </a:t>
            </a:r>
          </a:p>
          <a:p>
            <a:pPr marL="0" indent="0">
              <a:buNone/>
            </a:pPr>
            <a:r>
              <a:rPr lang="en-US" dirty="0">
                <a:solidFill>
                  <a:schemeClr val="accent6">
                    <a:lumMod val="40000"/>
                    <a:lumOff val="60000"/>
                  </a:schemeClr>
                </a:solidFill>
              </a:rPr>
              <a:t>from walmartsales group by customer_type ,Product_Line Order BY Total_Sales Desc;</a:t>
            </a:r>
            <a:endParaRPr dirty="0">
              <a:solidFill>
                <a:schemeClr val="accent6">
                  <a:lumMod val="40000"/>
                  <a:lumOff val="6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F7AD5-68CE-D982-1F27-0CE5C50C24BC}"/>
              </a:ext>
            </a:extLst>
          </p:cNvPr>
          <p:cNvSpPr>
            <a:spLocks noGrp="1"/>
          </p:cNvSpPr>
          <p:nvPr>
            <p:ph type="title"/>
          </p:nvPr>
        </p:nvSpPr>
        <p:spPr>
          <a:xfrm>
            <a:off x="1286328" y="284511"/>
            <a:ext cx="6571343" cy="478370"/>
          </a:xfrm>
        </p:spPr>
        <p:txBody>
          <a:bodyPr>
            <a:normAutofit fontScale="90000"/>
          </a:bodyPr>
          <a:lstStyle/>
          <a:p>
            <a:r>
              <a:rPr lang="en-US" dirty="0"/>
              <a:t>                     Output</a:t>
            </a:r>
            <a:endParaRPr lang="en-IN" dirty="0"/>
          </a:p>
        </p:txBody>
      </p:sp>
      <p:graphicFrame>
        <p:nvGraphicFramePr>
          <p:cNvPr id="4" name="Content Placeholder 3">
            <a:extLst>
              <a:ext uri="{FF2B5EF4-FFF2-40B4-BE49-F238E27FC236}">
                <a16:creationId xmlns:a16="http://schemas.microsoft.com/office/drawing/2014/main" id="{8D00225A-94D1-2115-9337-E195239A5224}"/>
              </a:ext>
            </a:extLst>
          </p:cNvPr>
          <p:cNvGraphicFramePr>
            <a:graphicFrameLocks noGrp="1"/>
          </p:cNvGraphicFramePr>
          <p:nvPr>
            <p:ph idx="1"/>
            <p:extLst>
              <p:ext uri="{D42A27DB-BD31-4B8C-83A1-F6EECF244321}">
                <p14:modId xmlns:p14="http://schemas.microsoft.com/office/powerpoint/2010/main" val="2873610661"/>
              </p:ext>
            </p:extLst>
          </p:nvPr>
        </p:nvGraphicFramePr>
        <p:xfrm>
          <a:off x="457199" y="1322295"/>
          <a:ext cx="8229600" cy="4648464"/>
        </p:xfrm>
        <a:graphic>
          <a:graphicData uri="http://schemas.openxmlformats.org/drawingml/2006/table">
            <a:tbl>
              <a:tblPr>
                <a:tableStyleId>{775DCB02-9BB8-47FD-8907-85C794F793BA}</a:tableStyleId>
              </a:tblPr>
              <a:tblGrid>
                <a:gridCol w="2743200">
                  <a:extLst>
                    <a:ext uri="{9D8B030D-6E8A-4147-A177-3AD203B41FA5}">
                      <a16:colId xmlns:a16="http://schemas.microsoft.com/office/drawing/2014/main" val="1904820737"/>
                    </a:ext>
                  </a:extLst>
                </a:gridCol>
                <a:gridCol w="2743200">
                  <a:extLst>
                    <a:ext uri="{9D8B030D-6E8A-4147-A177-3AD203B41FA5}">
                      <a16:colId xmlns:a16="http://schemas.microsoft.com/office/drawing/2014/main" val="57188715"/>
                    </a:ext>
                  </a:extLst>
                </a:gridCol>
                <a:gridCol w="2743200">
                  <a:extLst>
                    <a:ext uri="{9D8B030D-6E8A-4147-A177-3AD203B41FA5}">
                      <a16:colId xmlns:a16="http://schemas.microsoft.com/office/drawing/2014/main" val="1108329043"/>
                    </a:ext>
                  </a:extLst>
                </a:gridCol>
              </a:tblGrid>
              <a:tr h="387372">
                <a:tc>
                  <a:txBody>
                    <a:bodyPr/>
                    <a:lstStyle/>
                    <a:p>
                      <a:r>
                        <a:rPr lang="en-IN" dirty="0"/>
                        <a:t>Member</a:t>
                      </a:r>
                    </a:p>
                  </a:txBody>
                  <a:tcPr anchor="ctr"/>
                </a:tc>
                <a:tc>
                  <a:txBody>
                    <a:bodyPr/>
                    <a:lstStyle/>
                    <a:p>
                      <a:r>
                        <a:rPr lang="en-IN" dirty="0"/>
                        <a:t>Food and beverages</a:t>
                      </a:r>
                    </a:p>
                  </a:txBody>
                  <a:tcPr anchor="ctr"/>
                </a:tc>
                <a:tc>
                  <a:txBody>
                    <a:bodyPr/>
                    <a:lstStyle/>
                    <a:p>
                      <a:r>
                        <a:rPr lang="en-IN" dirty="0"/>
                        <a:t>31358</a:t>
                      </a:r>
                    </a:p>
                  </a:txBody>
                  <a:tcPr anchor="ctr"/>
                </a:tc>
                <a:extLst>
                  <a:ext uri="{0D108BD9-81ED-4DB2-BD59-A6C34878D82A}">
                    <a16:rowId xmlns:a16="http://schemas.microsoft.com/office/drawing/2014/main" val="465268139"/>
                  </a:ext>
                </a:extLst>
              </a:tr>
              <a:tr h="387372">
                <a:tc>
                  <a:txBody>
                    <a:bodyPr/>
                    <a:lstStyle/>
                    <a:p>
                      <a:r>
                        <a:rPr lang="en-IN" dirty="0"/>
                        <a:t>Normal</a:t>
                      </a:r>
                    </a:p>
                  </a:txBody>
                  <a:tcPr anchor="ctr"/>
                </a:tc>
                <a:tc>
                  <a:txBody>
                    <a:bodyPr/>
                    <a:lstStyle/>
                    <a:p>
                      <a:r>
                        <a:rPr lang="en-IN" dirty="0"/>
                        <a:t>Electronic accessories</a:t>
                      </a:r>
                    </a:p>
                  </a:txBody>
                  <a:tcPr anchor="ctr"/>
                </a:tc>
                <a:tc>
                  <a:txBody>
                    <a:bodyPr/>
                    <a:lstStyle/>
                    <a:p>
                      <a:r>
                        <a:rPr lang="en-IN" dirty="0"/>
                        <a:t>29839</a:t>
                      </a:r>
                    </a:p>
                  </a:txBody>
                  <a:tcPr anchor="ctr"/>
                </a:tc>
                <a:extLst>
                  <a:ext uri="{0D108BD9-81ED-4DB2-BD59-A6C34878D82A}">
                    <a16:rowId xmlns:a16="http://schemas.microsoft.com/office/drawing/2014/main" val="945741610"/>
                  </a:ext>
                </a:extLst>
              </a:tr>
              <a:tr h="387372">
                <a:tc>
                  <a:txBody>
                    <a:bodyPr/>
                    <a:lstStyle/>
                    <a:p>
                      <a:r>
                        <a:rPr lang="en-IN" dirty="0"/>
                        <a:t>Member</a:t>
                      </a:r>
                    </a:p>
                  </a:txBody>
                  <a:tcPr anchor="ctr"/>
                </a:tc>
                <a:tc>
                  <a:txBody>
                    <a:bodyPr/>
                    <a:lstStyle/>
                    <a:p>
                      <a:r>
                        <a:rPr lang="en-IN" dirty="0"/>
                        <a:t>Sports and travel</a:t>
                      </a:r>
                    </a:p>
                  </a:txBody>
                  <a:tcPr anchor="ctr"/>
                </a:tc>
                <a:tc>
                  <a:txBody>
                    <a:bodyPr/>
                    <a:lstStyle/>
                    <a:p>
                      <a:r>
                        <a:rPr lang="en-IN" dirty="0"/>
                        <a:t>28234</a:t>
                      </a:r>
                    </a:p>
                  </a:txBody>
                  <a:tcPr anchor="ctr"/>
                </a:tc>
                <a:extLst>
                  <a:ext uri="{0D108BD9-81ED-4DB2-BD59-A6C34878D82A}">
                    <a16:rowId xmlns:a16="http://schemas.microsoft.com/office/drawing/2014/main" val="2178085037"/>
                  </a:ext>
                </a:extLst>
              </a:tr>
              <a:tr h="387372">
                <a:tc>
                  <a:txBody>
                    <a:bodyPr/>
                    <a:lstStyle/>
                    <a:p>
                      <a:r>
                        <a:rPr lang="en-IN" dirty="0"/>
                        <a:t>Normal</a:t>
                      </a:r>
                    </a:p>
                  </a:txBody>
                  <a:tcPr anchor="ctr"/>
                </a:tc>
                <a:tc>
                  <a:txBody>
                    <a:bodyPr/>
                    <a:lstStyle/>
                    <a:p>
                      <a:r>
                        <a:rPr lang="en-IN" dirty="0"/>
                        <a:t>Fashion accessories</a:t>
                      </a:r>
                    </a:p>
                  </a:txBody>
                  <a:tcPr anchor="ctr"/>
                </a:tc>
                <a:tc>
                  <a:txBody>
                    <a:bodyPr/>
                    <a:lstStyle/>
                    <a:p>
                      <a:r>
                        <a:rPr lang="en-IN" dirty="0"/>
                        <a:t>27982</a:t>
                      </a:r>
                    </a:p>
                  </a:txBody>
                  <a:tcPr anchor="ctr"/>
                </a:tc>
                <a:extLst>
                  <a:ext uri="{0D108BD9-81ED-4DB2-BD59-A6C34878D82A}">
                    <a16:rowId xmlns:a16="http://schemas.microsoft.com/office/drawing/2014/main" val="2855553956"/>
                  </a:ext>
                </a:extLst>
              </a:tr>
              <a:tr h="387372">
                <a:tc>
                  <a:txBody>
                    <a:bodyPr/>
                    <a:lstStyle/>
                    <a:p>
                      <a:r>
                        <a:rPr lang="en-IN" dirty="0"/>
                        <a:t>Member</a:t>
                      </a:r>
                    </a:p>
                  </a:txBody>
                  <a:tcPr anchor="ctr"/>
                </a:tc>
                <a:tc>
                  <a:txBody>
                    <a:bodyPr/>
                    <a:lstStyle/>
                    <a:p>
                      <a:r>
                        <a:rPr lang="en-IN" dirty="0"/>
                        <a:t>Home and lifestyle</a:t>
                      </a:r>
                    </a:p>
                  </a:txBody>
                  <a:tcPr anchor="ctr"/>
                </a:tc>
                <a:tc>
                  <a:txBody>
                    <a:bodyPr/>
                    <a:lstStyle/>
                    <a:p>
                      <a:r>
                        <a:rPr lang="en-IN" dirty="0"/>
                        <a:t>27978</a:t>
                      </a:r>
                    </a:p>
                  </a:txBody>
                  <a:tcPr anchor="ctr"/>
                </a:tc>
                <a:extLst>
                  <a:ext uri="{0D108BD9-81ED-4DB2-BD59-A6C34878D82A}">
                    <a16:rowId xmlns:a16="http://schemas.microsoft.com/office/drawing/2014/main" val="2267568664"/>
                  </a:ext>
                </a:extLst>
              </a:tr>
              <a:tr h="387372">
                <a:tc>
                  <a:txBody>
                    <a:bodyPr/>
                    <a:lstStyle/>
                    <a:p>
                      <a:r>
                        <a:rPr lang="en-IN" dirty="0"/>
                        <a:t>Normal</a:t>
                      </a:r>
                    </a:p>
                  </a:txBody>
                  <a:tcPr anchor="ctr"/>
                </a:tc>
                <a:tc>
                  <a:txBody>
                    <a:bodyPr/>
                    <a:lstStyle/>
                    <a:p>
                      <a:r>
                        <a:rPr lang="en-IN" dirty="0"/>
                        <a:t>Sports and travel</a:t>
                      </a:r>
                    </a:p>
                  </a:txBody>
                  <a:tcPr anchor="ctr"/>
                </a:tc>
                <a:tc>
                  <a:txBody>
                    <a:bodyPr/>
                    <a:lstStyle/>
                    <a:p>
                      <a:r>
                        <a:rPr lang="en-IN" dirty="0"/>
                        <a:t>26889</a:t>
                      </a:r>
                    </a:p>
                  </a:txBody>
                  <a:tcPr anchor="ctr"/>
                </a:tc>
                <a:extLst>
                  <a:ext uri="{0D108BD9-81ED-4DB2-BD59-A6C34878D82A}">
                    <a16:rowId xmlns:a16="http://schemas.microsoft.com/office/drawing/2014/main" val="516648566"/>
                  </a:ext>
                </a:extLst>
              </a:tr>
              <a:tr h="387372">
                <a:tc>
                  <a:txBody>
                    <a:bodyPr/>
                    <a:lstStyle/>
                    <a:p>
                      <a:r>
                        <a:rPr lang="en-IN" dirty="0"/>
                        <a:t>Member</a:t>
                      </a:r>
                    </a:p>
                  </a:txBody>
                  <a:tcPr anchor="ctr"/>
                </a:tc>
                <a:tc>
                  <a:txBody>
                    <a:bodyPr/>
                    <a:lstStyle/>
                    <a:p>
                      <a:r>
                        <a:rPr lang="en-IN" dirty="0"/>
                        <a:t>Fashion accessories</a:t>
                      </a:r>
                    </a:p>
                  </a:txBody>
                  <a:tcPr anchor="ctr"/>
                </a:tc>
                <a:tc>
                  <a:txBody>
                    <a:bodyPr/>
                    <a:lstStyle/>
                    <a:p>
                      <a:r>
                        <a:rPr lang="en-IN" dirty="0"/>
                        <a:t>26324</a:t>
                      </a:r>
                    </a:p>
                  </a:txBody>
                  <a:tcPr anchor="ctr"/>
                </a:tc>
                <a:extLst>
                  <a:ext uri="{0D108BD9-81ED-4DB2-BD59-A6C34878D82A}">
                    <a16:rowId xmlns:a16="http://schemas.microsoft.com/office/drawing/2014/main" val="3718194279"/>
                  </a:ext>
                </a:extLst>
              </a:tr>
              <a:tr h="387372">
                <a:tc>
                  <a:txBody>
                    <a:bodyPr/>
                    <a:lstStyle/>
                    <a:p>
                      <a:r>
                        <a:rPr lang="en-IN" dirty="0"/>
                        <a:t>Normal</a:t>
                      </a:r>
                    </a:p>
                  </a:txBody>
                  <a:tcPr anchor="ctr"/>
                </a:tc>
                <a:tc>
                  <a:txBody>
                    <a:bodyPr/>
                    <a:lstStyle/>
                    <a:p>
                      <a:r>
                        <a:rPr lang="en-IN" dirty="0"/>
                        <a:t>Home and lifestyle</a:t>
                      </a:r>
                    </a:p>
                  </a:txBody>
                  <a:tcPr anchor="ctr"/>
                </a:tc>
                <a:tc>
                  <a:txBody>
                    <a:bodyPr/>
                    <a:lstStyle/>
                    <a:p>
                      <a:r>
                        <a:rPr lang="en-IN" dirty="0"/>
                        <a:t>25884</a:t>
                      </a:r>
                    </a:p>
                  </a:txBody>
                  <a:tcPr anchor="ctr"/>
                </a:tc>
                <a:extLst>
                  <a:ext uri="{0D108BD9-81ED-4DB2-BD59-A6C34878D82A}">
                    <a16:rowId xmlns:a16="http://schemas.microsoft.com/office/drawing/2014/main" val="3318112268"/>
                  </a:ext>
                </a:extLst>
              </a:tr>
              <a:tr h="387372">
                <a:tc>
                  <a:txBody>
                    <a:bodyPr/>
                    <a:lstStyle/>
                    <a:p>
                      <a:r>
                        <a:rPr lang="en-IN" dirty="0"/>
                        <a:t>Member</a:t>
                      </a:r>
                    </a:p>
                  </a:txBody>
                  <a:tcPr anchor="ctr"/>
                </a:tc>
                <a:tc>
                  <a:txBody>
                    <a:bodyPr/>
                    <a:lstStyle/>
                    <a:p>
                      <a:r>
                        <a:rPr lang="en-IN" dirty="0"/>
                        <a:t>Health and beauty</a:t>
                      </a:r>
                    </a:p>
                  </a:txBody>
                  <a:tcPr anchor="ctr"/>
                </a:tc>
                <a:tc>
                  <a:txBody>
                    <a:bodyPr/>
                    <a:lstStyle/>
                    <a:p>
                      <a:r>
                        <a:rPr lang="en-IN" dirty="0"/>
                        <a:t>25831</a:t>
                      </a:r>
                    </a:p>
                  </a:txBody>
                  <a:tcPr anchor="ctr"/>
                </a:tc>
                <a:extLst>
                  <a:ext uri="{0D108BD9-81ED-4DB2-BD59-A6C34878D82A}">
                    <a16:rowId xmlns:a16="http://schemas.microsoft.com/office/drawing/2014/main" val="3936503800"/>
                  </a:ext>
                </a:extLst>
              </a:tr>
              <a:tr h="387372">
                <a:tc>
                  <a:txBody>
                    <a:bodyPr/>
                    <a:lstStyle/>
                    <a:p>
                      <a:r>
                        <a:rPr lang="en-IN" dirty="0"/>
                        <a:t>Normal</a:t>
                      </a:r>
                    </a:p>
                  </a:txBody>
                  <a:tcPr anchor="ctr"/>
                </a:tc>
                <a:tc>
                  <a:txBody>
                    <a:bodyPr/>
                    <a:lstStyle/>
                    <a:p>
                      <a:r>
                        <a:rPr lang="en-IN" dirty="0"/>
                        <a:t>Food and beverages</a:t>
                      </a:r>
                    </a:p>
                  </a:txBody>
                  <a:tcPr anchor="ctr"/>
                </a:tc>
                <a:tc>
                  <a:txBody>
                    <a:bodyPr/>
                    <a:lstStyle/>
                    <a:p>
                      <a:r>
                        <a:rPr lang="en-IN" dirty="0"/>
                        <a:t>24787</a:t>
                      </a:r>
                    </a:p>
                  </a:txBody>
                  <a:tcPr anchor="ctr"/>
                </a:tc>
                <a:extLst>
                  <a:ext uri="{0D108BD9-81ED-4DB2-BD59-A6C34878D82A}">
                    <a16:rowId xmlns:a16="http://schemas.microsoft.com/office/drawing/2014/main" val="62327848"/>
                  </a:ext>
                </a:extLst>
              </a:tr>
              <a:tr h="387372">
                <a:tc>
                  <a:txBody>
                    <a:bodyPr/>
                    <a:lstStyle/>
                    <a:p>
                      <a:r>
                        <a:rPr lang="en-IN" dirty="0"/>
                        <a:t>Member</a:t>
                      </a:r>
                    </a:p>
                  </a:txBody>
                  <a:tcPr anchor="ctr"/>
                </a:tc>
                <a:tc>
                  <a:txBody>
                    <a:bodyPr/>
                    <a:lstStyle/>
                    <a:p>
                      <a:r>
                        <a:rPr lang="en-IN" dirty="0"/>
                        <a:t>Electronic accessories</a:t>
                      </a:r>
                    </a:p>
                  </a:txBody>
                  <a:tcPr anchor="ctr"/>
                </a:tc>
                <a:tc>
                  <a:txBody>
                    <a:bodyPr/>
                    <a:lstStyle/>
                    <a:p>
                      <a:r>
                        <a:rPr lang="en-IN" dirty="0"/>
                        <a:t>24498</a:t>
                      </a:r>
                    </a:p>
                  </a:txBody>
                  <a:tcPr anchor="ctr"/>
                </a:tc>
                <a:extLst>
                  <a:ext uri="{0D108BD9-81ED-4DB2-BD59-A6C34878D82A}">
                    <a16:rowId xmlns:a16="http://schemas.microsoft.com/office/drawing/2014/main" val="3295855064"/>
                  </a:ext>
                </a:extLst>
              </a:tr>
              <a:tr h="387372">
                <a:tc>
                  <a:txBody>
                    <a:bodyPr/>
                    <a:lstStyle/>
                    <a:p>
                      <a:r>
                        <a:rPr lang="en-IN" dirty="0"/>
                        <a:t>Normal</a:t>
                      </a:r>
                    </a:p>
                  </a:txBody>
                  <a:tcPr anchor="ctr"/>
                </a:tc>
                <a:tc>
                  <a:txBody>
                    <a:bodyPr/>
                    <a:lstStyle/>
                    <a:p>
                      <a:r>
                        <a:rPr lang="en-IN" dirty="0"/>
                        <a:t>Health and beauty</a:t>
                      </a:r>
                    </a:p>
                  </a:txBody>
                  <a:tcPr anchor="ctr"/>
                </a:tc>
                <a:tc>
                  <a:txBody>
                    <a:bodyPr/>
                    <a:lstStyle/>
                    <a:p>
                      <a:r>
                        <a:rPr lang="en-IN" dirty="0"/>
                        <a:t>23363</a:t>
                      </a:r>
                    </a:p>
                  </a:txBody>
                  <a:tcPr anchor="ctr"/>
                </a:tc>
                <a:extLst>
                  <a:ext uri="{0D108BD9-81ED-4DB2-BD59-A6C34878D82A}">
                    <a16:rowId xmlns:a16="http://schemas.microsoft.com/office/drawing/2014/main" val="2028159024"/>
                  </a:ext>
                </a:extLst>
              </a:tr>
            </a:tbl>
          </a:graphicData>
        </a:graphic>
      </p:graphicFrame>
      <p:graphicFrame>
        <p:nvGraphicFramePr>
          <p:cNvPr id="5" name="Table 4">
            <a:extLst>
              <a:ext uri="{FF2B5EF4-FFF2-40B4-BE49-F238E27FC236}">
                <a16:creationId xmlns:a16="http://schemas.microsoft.com/office/drawing/2014/main" id="{9EBD9356-D41C-B771-9C05-AE1E1E46CDE3}"/>
              </a:ext>
            </a:extLst>
          </p:cNvPr>
          <p:cNvGraphicFramePr>
            <a:graphicFrameLocks noGrp="1"/>
          </p:cNvGraphicFramePr>
          <p:nvPr>
            <p:extLst>
              <p:ext uri="{D42A27DB-BD31-4B8C-83A1-F6EECF244321}">
                <p14:modId xmlns:p14="http://schemas.microsoft.com/office/powerpoint/2010/main" val="893890987"/>
              </p:ext>
            </p:extLst>
          </p:nvPr>
        </p:nvGraphicFramePr>
        <p:xfrm>
          <a:off x="457200" y="951455"/>
          <a:ext cx="8229600" cy="3708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3757539651"/>
                    </a:ext>
                  </a:extLst>
                </a:gridCol>
                <a:gridCol w="2743200">
                  <a:extLst>
                    <a:ext uri="{9D8B030D-6E8A-4147-A177-3AD203B41FA5}">
                      <a16:colId xmlns:a16="http://schemas.microsoft.com/office/drawing/2014/main" val="656176950"/>
                    </a:ext>
                  </a:extLst>
                </a:gridCol>
                <a:gridCol w="2743200">
                  <a:extLst>
                    <a:ext uri="{9D8B030D-6E8A-4147-A177-3AD203B41FA5}">
                      <a16:colId xmlns:a16="http://schemas.microsoft.com/office/drawing/2014/main" val="4165791584"/>
                    </a:ext>
                  </a:extLst>
                </a:gridCol>
              </a:tblGrid>
              <a:tr h="370840">
                <a:tc>
                  <a:txBody>
                    <a:bodyPr/>
                    <a:lstStyle/>
                    <a:p>
                      <a:r>
                        <a:rPr lang="en-US" dirty="0"/>
                        <a:t>Customer_type</a:t>
                      </a:r>
                      <a:endParaRPr lang="en-IN" dirty="0"/>
                    </a:p>
                  </a:txBody>
                  <a:tcPr/>
                </a:tc>
                <a:tc>
                  <a:txBody>
                    <a:bodyPr/>
                    <a:lstStyle/>
                    <a:p>
                      <a:r>
                        <a:rPr lang="en-US" dirty="0"/>
                        <a:t>Product_Line</a:t>
                      </a:r>
                      <a:endParaRPr lang="en-IN" dirty="0"/>
                    </a:p>
                  </a:txBody>
                  <a:tcPr/>
                </a:tc>
                <a:tc>
                  <a:txBody>
                    <a:bodyPr/>
                    <a:lstStyle/>
                    <a:p>
                      <a:r>
                        <a:rPr lang="en-US" dirty="0"/>
                        <a:t>Total_Sales</a:t>
                      </a:r>
                      <a:endParaRPr lang="en-IN" dirty="0"/>
                    </a:p>
                  </a:txBody>
                  <a:tcPr/>
                </a:tc>
                <a:extLst>
                  <a:ext uri="{0D108BD9-81ED-4DB2-BD59-A6C34878D82A}">
                    <a16:rowId xmlns:a16="http://schemas.microsoft.com/office/drawing/2014/main" val="2551609662"/>
                  </a:ext>
                </a:extLst>
              </a:tr>
            </a:tbl>
          </a:graphicData>
        </a:graphic>
      </p:graphicFrame>
    </p:spTree>
    <p:extLst>
      <p:ext uri="{BB962C8B-B14F-4D97-AF65-F5344CB8AC3E}">
        <p14:creationId xmlns:p14="http://schemas.microsoft.com/office/powerpoint/2010/main" val="2431232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Task 8 - </a:t>
            </a:r>
            <a:r>
              <a:rPr lang="en-US" dirty="0">
                <a:solidFill>
                  <a:schemeClr val="accent6">
                    <a:lumMod val="75000"/>
                  </a:schemeClr>
                </a:solidFill>
              </a:rPr>
              <a:t>Identifying Repeat Customers</a:t>
            </a:r>
            <a:endParaRPr dirty="0">
              <a:solidFill>
                <a:schemeClr val="accent6">
                  <a:lumMod val="75000"/>
                </a:schemeClr>
              </a:solidFill>
            </a:endParaRPr>
          </a:p>
        </p:txBody>
      </p:sp>
      <p:sp>
        <p:nvSpPr>
          <p:cNvPr id="3" name="Content Placeholder 2"/>
          <p:cNvSpPr>
            <a:spLocks noGrp="1"/>
          </p:cNvSpPr>
          <p:nvPr>
            <p:ph idx="1"/>
          </p:nvPr>
        </p:nvSpPr>
        <p:spPr/>
        <p:style>
          <a:lnRef idx="1">
            <a:schemeClr val="accent1"/>
          </a:lnRef>
          <a:fillRef idx="3">
            <a:schemeClr val="accent1"/>
          </a:fillRef>
          <a:effectRef idx="2">
            <a:schemeClr val="accent1"/>
          </a:effectRef>
          <a:fontRef idx="minor">
            <a:schemeClr val="lt1"/>
          </a:fontRef>
        </p:style>
        <p:txBody>
          <a:bodyPr>
            <a:normAutofit/>
          </a:bodyPr>
          <a:lstStyle/>
          <a:p>
            <a:pPr marL="0" indent="0">
              <a:buNone/>
            </a:pPr>
            <a:r>
              <a:rPr lang="en-US" dirty="0">
                <a:solidFill>
                  <a:schemeClr val="bg1"/>
                </a:solidFill>
              </a:rPr>
              <a:t>Query –</a:t>
            </a:r>
          </a:p>
          <a:p>
            <a:pPr marL="0" indent="0">
              <a:buNone/>
            </a:pPr>
            <a:r>
              <a:rPr lang="en-US" dirty="0">
                <a:solidFill>
                  <a:schemeClr val="accent6">
                    <a:lumMod val="40000"/>
                    <a:lumOff val="60000"/>
                  </a:schemeClr>
                </a:solidFill>
              </a:rPr>
              <a:t>use sql_project;</a:t>
            </a:r>
          </a:p>
          <a:p>
            <a:pPr marL="0" indent="0">
              <a:buNone/>
            </a:pPr>
            <a:r>
              <a:rPr lang="en-US" dirty="0">
                <a:solidFill>
                  <a:schemeClr val="accent6">
                    <a:lumMod val="40000"/>
                    <a:lumOff val="60000"/>
                  </a:schemeClr>
                </a:solidFill>
              </a:rPr>
              <a:t>select Customer_ID,monthname(Date_) </a:t>
            </a:r>
          </a:p>
          <a:p>
            <a:pPr marL="0" indent="0">
              <a:buNone/>
            </a:pPr>
            <a:r>
              <a:rPr lang="en-US" dirty="0">
                <a:solidFill>
                  <a:schemeClr val="accent6">
                    <a:lumMod val="40000"/>
                    <a:lumOff val="60000"/>
                  </a:schemeClr>
                </a:solidFill>
              </a:rPr>
              <a:t>As Month_Name,count(customer_ID) </a:t>
            </a:r>
          </a:p>
          <a:p>
            <a:pPr marL="0" indent="0">
              <a:buNone/>
            </a:pPr>
            <a:r>
              <a:rPr lang="en-US" dirty="0">
                <a:solidFill>
                  <a:schemeClr val="accent6">
                    <a:lumMod val="40000"/>
                    <a:lumOff val="60000"/>
                  </a:schemeClr>
                </a:solidFill>
              </a:rPr>
              <a:t>As No_Purchases from walmartsales </a:t>
            </a:r>
          </a:p>
          <a:p>
            <a:pPr marL="0" indent="0">
              <a:buNone/>
            </a:pPr>
            <a:r>
              <a:rPr lang="en-US" dirty="0">
                <a:solidFill>
                  <a:schemeClr val="accent6">
                    <a:lumMod val="40000"/>
                    <a:lumOff val="60000"/>
                  </a:schemeClr>
                </a:solidFill>
              </a:rPr>
              <a:t>group by Month_Name,Customer_ID </a:t>
            </a:r>
          </a:p>
          <a:p>
            <a:pPr marL="0" indent="0">
              <a:buNone/>
            </a:pPr>
            <a:r>
              <a:rPr lang="en-US" dirty="0">
                <a:solidFill>
                  <a:schemeClr val="accent6">
                    <a:lumMod val="40000"/>
                    <a:lumOff val="60000"/>
                  </a:schemeClr>
                </a:solidFill>
              </a:rPr>
              <a:t>Order by Month_Name asc;</a:t>
            </a:r>
            <a:endParaRPr dirty="0">
              <a:solidFill>
                <a:schemeClr val="accent6">
                  <a:lumMod val="40000"/>
                  <a:lumOff val="60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71BEC-54F0-62AC-C489-1F18158E55DD}"/>
              </a:ext>
            </a:extLst>
          </p:cNvPr>
          <p:cNvSpPr>
            <a:spLocks noGrp="1"/>
          </p:cNvSpPr>
          <p:nvPr>
            <p:ph type="title"/>
          </p:nvPr>
        </p:nvSpPr>
        <p:spPr/>
        <p:txBody>
          <a:bodyPr/>
          <a:lstStyle/>
          <a:p>
            <a:r>
              <a:rPr lang="en-US" dirty="0"/>
              <a:t>Output - </a:t>
            </a:r>
            <a:r>
              <a:rPr lang="en-US" dirty="0">
                <a:solidFill>
                  <a:schemeClr val="accent6">
                    <a:lumMod val="75000"/>
                  </a:schemeClr>
                </a:solidFill>
              </a:rPr>
              <a:t>some of the result</a:t>
            </a:r>
            <a:endParaRPr lang="en-IN" dirty="0">
              <a:solidFill>
                <a:schemeClr val="accent6">
                  <a:lumMod val="75000"/>
                </a:schemeClr>
              </a:solidFill>
            </a:endParaRPr>
          </a:p>
        </p:txBody>
      </p:sp>
      <p:graphicFrame>
        <p:nvGraphicFramePr>
          <p:cNvPr id="5" name="Content Placeholder 4">
            <a:extLst>
              <a:ext uri="{FF2B5EF4-FFF2-40B4-BE49-F238E27FC236}">
                <a16:creationId xmlns:a16="http://schemas.microsoft.com/office/drawing/2014/main" id="{8C4BAAE1-5AE3-D9E0-0BCF-67FD680CFC48}"/>
              </a:ext>
            </a:extLst>
          </p:cNvPr>
          <p:cNvGraphicFramePr>
            <a:graphicFrameLocks noGrp="1"/>
          </p:cNvGraphicFramePr>
          <p:nvPr>
            <p:ph idx="1"/>
            <p:extLst>
              <p:ext uri="{D42A27DB-BD31-4B8C-83A1-F6EECF244321}">
                <p14:modId xmlns:p14="http://schemas.microsoft.com/office/powerpoint/2010/main" val="3460624516"/>
              </p:ext>
            </p:extLst>
          </p:nvPr>
        </p:nvGraphicFramePr>
        <p:xfrm>
          <a:off x="457199" y="1878395"/>
          <a:ext cx="8229600" cy="4063045"/>
        </p:xfrm>
        <a:graphic>
          <a:graphicData uri="http://schemas.openxmlformats.org/drawingml/2006/table">
            <a:tbl>
              <a:tblPr>
                <a:tableStyleId>{775DCB02-9BB8-47FD-8907-85C794F793BA}</a:tableStyleId>
              </a:tblPr>
              <a:tblGrid>
                <a:gridCol w="2719954">
                  <a:extLst>
                    <a:ext uri="{9D8B030D-6E8A-4147-A177-3AD203B41FA5}">
                      <a16:colId xmlns:a16="http://schemas.microsoft.com/office/drawing/2014/main" val="3566462798"/>
                    </a:ext>
                  </a:extLst>
                </a:gridCol>
                <a:gridCol w="2758698">
                  <a:extLst>
                    <a:ext uri="{9D8B030D-6E8A-4147-A177-3AD203B41FA5}">
                      <a16:colId xmlns:a16="http://schemas.microsoft.com/office/drawing/2014/main" val="1098694415"/>
                    </a:ext>
                  </a:extLst>
                </a:gridCol>
                <a:gridCol w="2750948">
                  <a:extLst>
                    <a:ext uri="{9D8B030D-6E8A-4147-A177-3AD203B41FA5}">
                      <a16:colId xmlns:a16="http://schemas.microsoft.com/office/drawing/2014/main" val="357786309"/>
                    </a:ext>
                  </a:extLst>
                </a:gridCol>
              </a:tblGrid>
              <a:tr h="333299">
                <a:tc>
                  <a:txBody>
                    <a:bodyPr/>
                    <a:lstStyle/>
                    <a:p>
                      <a:r>
                        <a:rPr lang="en-IN" dirty="0"/>
                        <a:t>1</a:t>
                      </a:r>
                    </a:p>
                  </a:txBody>
                  <a:tcPr anchor="ctr"/>
                </a:tc>
                <a:tc>
                  <a:txBody>
                    <a:bodyPr/>
                    <a:lstStyle/>
                    <a:p>
                      <a:r>
                        <a:rPr lang="en-IN" dirty="0"/>
                        <a:t>February</a:t>
                      </a:r>
                    </a:p>
                  </a:txBody>
                  <a:tcPr anchor="ctr"/>
                </a:tc>
                <a:tc>
                  <a:txBody>
                    <a:bodyPr/>
                    <a:lstStyle/>
                    <a:p>
                      <a:r>
                        <a:rPr lang="en-IN" dirty="0"/>
                        <a:t>26</a:t>
                      </a:r>
                    </a:p>
                  </a:txBody>
                  <a:tcPr anchor="ctr"/>
                </a:tc>
                <a:extLst>
                  <a:ext uri="{0D108BD9-81ED-4DB2-BD59-A6C34878D82A}">
                    <a16:rowId xmlns:a16="http://schemas.microsoft.com/office/drawing/2014/main" val="4267250872"/>
                  </a:ext>
                </a:extLst>
              </a:tr>
              <a:tr h="333299">
                <a:tc>
                  <a:txBody>
                    <a:bodyPr/>
                    <a:lstStyle/>
                    <a:p>
                      <a:r>
                        <a:rPr lang="en-IN" dirty="0"/>
                        <a:t>2</a:t>
                      </a:r>
                    </a:p>
                  </a:txBody>
                  <a:tcPr anchor="ctr"/>
                </a:tc>
                <a:tc>
                  <a:txBody>
                    <a:bodyPr/>
                    <a:lstStyle/>
                    <a:p>
                      <a:r>
                        <a:rPr lang="en-IN" dirty="0"/>
                        <a:t>February</a:t>
                      </a:r>
                    </a:p>
                  </a:txBody>
                  <a:tcPr anchor="ctr"/>
                </a:tc>
                <a:tc>
                  <a:txBody>
                    <a:bodyPr/>
                    <a:lstStyle/>
                    <a:p>
                      <a:r>
                        <a:rPr lang="en-IN" dirty="0"/>
                        <a:t>19</a:t>
                      </a:r>
                    </a:p>
                  </a:txBody>
                  <a:tcPr anchor="ctr"/>
                </a:tc>
                <a:extLst>
                  <a:ext uri="{0D108BD9-81ED-4DB2-BD59-A6C34878D82A}">
                    <a16:rowId xmlns:a16="http://schemas.microsoft.com/office/drawing/2014/main" val="2544559323"/>
                  </a:ext>
                </a:extLst>
              </a:tr>
              <a:tr h="396756">
                <a:tc>
                  <a:txBody>
                    <a:bodyPr/>
                    <a:lstStyle/>
                    <a:p>
                      <a:r>
                        <a:rPr lang="en-IN" dirty="0"/>
                        <a:t>3</a:t>
                      </a:r>
                    </a:p>
                  </a:txBody>
                  <a:tcPr anchor="ctr"/>
                </a:tc>
                <a:tc>
                  <a:txBody>
                    <a:bodyPr/>
                    <a:lstStyle/>
                    <a:p>
                      <a:r>
                        <a:rPr lang="en-IN" dirty="0"/>
                        <a:t>February</a:t>
                      </a:r>
                    </a:p>
                  </a:txBody>
                  <a:tcPr anchor="ctr"/>
                </a:tc>
                <a:tc>
                  <a:txBody>
                    <a:bodyPr/>
                    <a:lstStyle/>
                    <a:p>
                      <a:r>
                        <a:rPr lang="en-IN" dirty="0"/>
                        <a:t>21</a:t>
                      </a:r>
                    </a:p>
                  </a:txBody>
                  <a:tcPr anchor="ctr"/>
                </a:tc>
                <a:extLst>
                  <a:ext uri="{0D108BD9-81ED-4DB2-BD59-A6C34878D82A}">
                    <a16:rowId xmlns:a16="http://schemas.microsoft.com/office/drawing/2014/main" val="1808623070"/>
                  </a:ext>
                </a:extLst>
              </a:tr>
              <a:tr h="333299">
                <a:tc>
                  <a:txBody>
                    <a:bodyPr/>
                    <a:lstStyle/>
                    <a:p>
                      <a:r>
                        <a:rPr lang="en-IN" dirty="0"/>
                        <a:t>4</a:t>
                      </a:r>
                    </a:p>
                  </a:txBody>
                  <a:tcPr anchor="ctr"/>
                </a:tc>
                <a:tc>
                  <a:txBody>
                    <a:bodyPr/>
                    <a:lstStyle/>
                    <a:p>
                      <a:r>
                        <a:rPr lang="en-IN" dirty="0"/>
                        <a:t>February</a:t>
                      </a:r>
                    </a:p>
                  </a:txBody>
                  <a:tcPr anchor="ctr"/>
                </a:tc>
                <a:tc>
                  <a:txBody>
                    <a:bodyPr/>
                    <a:lstStyle/>
                    <a:p>
                      <a:r>
                        <a:rPr lang="en-IN" dirty="0"/>
                        <a:t>21</a:t>
                      </a:r>
                    </a:p>
                  </a:txBody>
                  <a:tcPr anchor="ctr"/>
                </a:tc>
                <a:extLst>
                  <a:ext uri="{0D108BD9-81ED-4DB2-BD59-A6C34878D82A}">
                    <a16:rowId xmlns:a16="http://schemas.microsoft.com/office/drawing/2014/main" val="2254345935"/>
                  </a:ext>
                </a:extLst>
              </a:tr>
              <a:tr h="333299">
                <a:tc>
                  <a:txBody>
                    <a:bodyPr/>
                    <a:lstStyle/>
                    <a:p>
                      <a:r>
                        <a:rPr lang="en-IN" dirty="0"/>
                        <a:t>5</a:t>
                      </a:r>
                    </a:p>
                  </a:txBody>
                  <a:tcPr anchor="ctr"/>
                </a:tc>
                <a:tc>
                  <a:txBody>
                    <a:bodyPr/>
                    <a:lstStyle/>
                    <a:p>
                      <a:r>
                        <a:rPr lang="en-IN" dirty="0"/>
                        <a:t>February</a:t>
                      </a:r>
                    </a:p>
                  </a:txBody>
                  <a:tcPr anchor="ctr"/>
                </a:tc>
                <a:tc>
                  <a:txBody>
                    <a:bodyPr/>
                    <a:lstStyle/>
                    <a:p>
                      <a:r>
                        <a:rPr lang="en-IN" dirty="0"/>
                        <a:t>18</a:t>
                      </a:r>
                    </a:p>
                  </a:txBody>
                  <a:tcPr anchor="ctr"/>
                </a:tc>
                <a:extLst>
                  <a:ext uri="{0D108BD9-81ED-4DB2-BD59-A6C34878D82A}">
                    <a16:rowId xmlns:a16="http://schemas.microsoft.com/office/drawing/2014/main" val="2773048274"/>
                  </a:ext>
                </a:extLst>
              </a:tr>
              <a:tr h="333299">
                <a:tc>
                  <a:txBody>
                    <a:bodyPr/>
                    <a:lstStyle/>
                    <a:p>
                      <a:r>
                        <a:rPr lang="en-IN" dirty="0"/>
                        <a:t>6</a:t>
                      </a:r>
                    </a:p>
                  </a:txBody>
                  <a:tcPr anchor="ctr"/>
                </a:tc>
                <a:tc>
                  <a:txBody>
                    <a:bodyPr/>
                    <a:lstStyle/>
                    <a:p>
                      <a:r>
                        <a:rPr lang="en-IN" dirty="0"/>
                        <a:t>February</a:t>
                      </a:r>
                    </a:p>
                  </a:txBody>
                  <a:tcPr anchor="ctr"/>
                </a:tc>
                <a:tc>
                  <a:txBody>
                    <a:bodyPr/>
                    <a:lstStyle/>
                    <a:p>
                      <a:r>
                        <a:rPr lang="en-IN" dirty="0"/>
                        <a:t>21</a:t>
                      </a:r>
                    </a:p>
                  </a:txBody>
                  <a:tcPr anchor="ctr"/>
                </a:tc>
                <a:extLst>
                  <a:ext uri="{0D108BD9-81ED-4DB2-BD59-A6C34878D82A}">
                    <a16:rowId xmlns:a16="http://schemas.microsoft.com/office/drawing/2014/main" val="425645589"/>
                  </a:ext>
                </a:extLst>
              </a:tr>
              <a:tr h="333299">
                <a:tc>
                  <a:txBody>
                    <a:bodyPr/>
                    <a:lstStyle/>
                    <a:p>
                      <a:r>
                        <a:rPr lang="en-IN" dirty="0"/>
                        <a:t>7</a:t>
                      </a:r>
                    </a:p>
                  </a:txBody>
                  <a:tcPr anchor="ctr"/>
                </a:tc>
                <a:tc>
                  <a:txBody>
                    <a:bodyPr/>
                    <a:lstStyle/>
                    <a:p>
                      <a:r>
                        <a:rPr lang="en-IN" dirty="0"/>
                        <a:t>February</a:t>
                      </a:r>
                    </a:p>
                  </a:txBody>
                  <a:tcPr anchor="ctr"/>
                </a:tc>
                <a:tc>
                  <a:txBody>
                    <a:bodyPr/>
                    <a:lstStyle/>
                    <a:p>
                      <a:r>
                        <a:rPr lang="en-IN" dirty="0"/>
                        <a:t>12</a:t>
                      </a:r>
                    </a:p>
                  </a:txBody>
                  <a:tcPr anchor="ctr"/>
                </a:tc>
                <a:extLst>
                  <a:ext uri="{0D108BD9-81ED-4DB2-BD59-A6C34878D82A}">
                    <a16:rowId xmlns:a16="http://schemas.microsoft.com/office/drawing/2014/main" val="1672035625"/>
                  </a:ext>
                </a:extLst>
              </a:tr>
              <a:tr h="333299">
                <a:tc>
                  <a:txBody>
                    <a:bodyPr/>
                    <a:lstStyle/>
                    <a:p>
                      <a:r>
                        <a:rPr lang="en-IN" dirty="0"/>
                        <a:t>8</a:t>
                      </a:r>
                    </a:p>
                  </a:txBody>
                  <a:tcPr anchor="ctr"/>
                </a:tc>
                <a:tc>
                  <a:txBody>
                    <a:bodyPr/>
                    <a:lstStyle/>
                    <a:p>
                      <a:r>
                        <a:rPr lang="en-IN" dirty="0"/>
                        <a:t>February</a:t>
                      </a:r>
                    </a:p>
                  </a:txBody>
                  <a:tcPr anchor="ctr"/>
                </a:tc>
                <a:tc>
                  <a:txBody>
                    <a:bodyPr/>
                    <a:lstStyle/>
                    <a:p>
                      <a:r>
                        <a:rPr lang="en-IN" dirty="0"/>
                        <a:t>21</a:t>
                      </a:r>
                    </a:p>
                  </a:txBody>
                  <a:tcPr anchor="ctr"/>
                </a:tc>
                <a:extLst>
                  <a:ext uri="{0D108BD9-81ED-4DB2-BD59-A6C34878D82A}">
                    <a16:rowId xmlns:a16="http://schemas.microsoft.com/office/drawing/2014/main" val="1825588818"/>
                  </a:ext>
                </a:extLst>
              </a:tr>
              <a:tr h="333299">
                <a:tc>
                  <a:txBody>
                    <a:bodyPr/>
                    <a:lstStyle/>
                    <a:p>
                      <a:r>
                        <a:rPr lang="en-IN" dirty="0"/>
                        <a:t>9</a:t>
                      </a:r>
                    </a:p>
                  </a:txBody>
                  <a:tcPr anchor="ctr"/>
                </a:tc>
                <a:tc>
                  <a:txBody>
                    <a:bodyPr/>
                    <a:lstStyle/>
                    <a:p>
                      <a:r>
                        <a:rPr lang="en-IN" dirty="0"/>
                        <a:t>February</a:t>
                      </a:r>
                    </a:p>
                  </a:txBody>
                  <a:tcPr anchor="ctr"/>
                </a:tc>
                <a:tc>
                  <a:txBody>
                    <a:bodyPr/>
                    <a:lstStyle/>
                    <a:p>
                      <a:r>
                        <a:rPr lang="en-IN" dirty="0"/>
                        <a:t>21</a:t>
                      </a:r>
                    </a:p>
                  </a:txBody>
                  <a:tcPr anchor="ctr"/>
                </a:tc>
                <a:extLst>
                  <a:ext uri="{0D108BD9-81ED-4DB2-BD59-A6C34878D82A}">
                    <a16:rowId xmlns:a16="http://schemas.microsoft.com/office/drawing/2014/main" val="1067003401"/>
                  </a:ext>
                </a:extLst>
              </a:tr>
              <a:tr h="333299">
                <a:tc>
                  <a:txBody>
                    <a:bodyPr/>
                    <a:lstStyle/>
                    <a:p>
                      <a:r>
                        <a:rPr lang="en-IN" dirty="0"/>
                        <a:t>10</a:t>
                      </a:r>
                    </a:p>
                  </a:txBody>
                  <a:tcPr anchor="ctr"/>
                </a:tc>
                <a:tc>
                  <a:txBody>
                    <a:bodyPr/>
                    <a:lstStyle/>
                    <a:p>
                      <a:r>
                        <a:rPr lang="en-IN" dirty="0"/>
                        <a:t>February</a:t>
                      </a:r>
                    </a:p>
                  </a:txBody>
                  <a:tcPr anchor="ctr"/>
                </a:tc>
                <a:tc>
                  <a:txBody>
                    <a:bodyPr/>
                    <a:lstStyle/>
                    <a:p>
                      <a:r>
                        <a:rPr lang="en-IN" dirty="0"/>
                        <a:t>23</a:t>
                      </a:r>
                    </a:p>
                  </a:txBody>
                  <a:tcPr anchor="ctr"/>
                </a:tc>
                <a:extLst>
                  <a:ext uri="{0D108BD9-81ED-4DB2-BD59-A6C34878D82A}">
                    <a16:rowId xmlns:a16="http://schemas.microsoft.com/office/drawing/2014/main" val="102416879"/>
                  </a:ext>
                </a:extLst>
              </a:tr>
              <a:tr h="333299">
                <a:tc>
                  <a:txBody>
                    <a:bodyPr/>
                    <a:lstStyle/>
                    <a:p>
                      <a:r>
                        <a:rPr lang="en-IN" dirty="0"/>
                        <a:t>11</a:t>
                      </a:r>
                    </a:p>
                  </a:txBody>
                  <a:tcPr anchor="ctr"/>
                </a:tc>
                <a:tc>
                  <a:txBody>
                    <a:bodyPr/>
                    <a:lstStyle/>
                    <a:p>
                      <a:r>
                        <a:rPr lang="en-IN" dirty="0"/>
                        <a:t>February</a:t>
                      </a:r>
                    </a:p>
                  </a:txBody>
                  <a:tcPr anchor="ctr"/>
                </a:tc>
                <a:tc>
                  <a:txBody>
                    <a:bodyPr/>
                    <a:lstStyle/>
                    <a:p>
                      <a:r>
                        <a:rPr lang="en-IN" dirty="0"/>
                        <a:t>17</a:t>
                      </a:r>
                    </a:p>
                  </a:txBody>
                  <a:tcPr anchor="ctr"/>
                </a:tc>
                <a:extLst>
                  <a:ext uri="{0D108BD9-81ED-4DB2-BD59-A6C34878D82A}">
                    <a16:rowId xmlns:a16="http://schemas.microsoft.com/office/drawing/2014/main" val="889266633"/>
                  </a:ext>
                </a:extLst>
              </a:tr>
              <a:tr h="333299">
                <a:tc>
                  <a:txBody>
                    <a:bodyPr/>
                    <a:lstStyle/>
                    <a:p>
                      <a:r>
                        <a:rPr lang="en-IN" dirty="0"/>
                        <a:t>12</a:t>
                      </a:r>
                    </a:p>
                  </a:txBody>
                  <a:tcPr anchor="ctr"/>
                </a:tc>
                <a:tc>
                  <a:txBody>
                    <a:bodyPr/>
                    <a:lstStyle/>
                    <a:p>
                      <a:r>
                        <a:rPr lang="en-IN" dirty="0"/>
                        <a:t>February</a:t>
                      </a:r>
                    </a:p>
                  </a:txBody>
                  <a:tcPr anchor="ctr"/>
                </a:tc>
                <a:tc>
                  <a:txBody>
                    <a:bodyPr/>
                    <a:lstStyle/>
                    <a:p>
                      <a:r>
                        <a:rPr lang="en-IN" dirty="0"/>
                        <a:t>20</a:t>
                      </a:r>
                    </a:p>
                  </a:txBody>
                  <a:tcPr anchor="ctr"/>
                </a:tc>
                <a:extLst>
                  <a:ext uri="{0D108BD9-81ED-4DB2-BD59-A6C34878D82A}">
                    <a16:rowId xmlns:a16="http://schemas.microsoft.com/office/drawing/2014/main" val="2992936965"/>
                  </a:ext>
                </a:extLst>
              </a:tr>
            </a:tbl>
          </a:graphicData>
        </a:graphic>
      </p:graphicFrame>
      <p:graphicFrame>
        <p:nvGraphicFramePr>
          <p:cNvPr id="6" name="Table 5">
            <a:extLst>
              <a:ext uri="{FF2B5EF4-FFF2-40B4-BE49-F238E27FC236}">
                <a16:creationId xmlns:a16="http://schemas.microsoft.com/office/drawing/2014/main" id="{050E79ED-ABA6-9544-A4BF-FD8957AB7587}"/>
              </a:ext>
            </a:extLst>
          </p:cNvPr>
          <p:cNvGraphicFramePr>
            <a:graphicFrameLocks noGrp="1"/>
          </p:cNvGraphicFramePr>
          <p:nvPr>
            <p:extLst>
              <p:ext uri="{D42A27DB-BD31-4B8C-83A1-F6EECF244321}">
                <p14:modId xmlns:p14="http://schemas.microsoft.com/office/powerpoint/2010/main" val="3390127960"/>
              </p:ext>
            </p:extLst>
          </p:nvPr>
        </p:nvGraphicFramePr>
        <p:xfrm>
          <a:off x="457199" y="1507555"/>
          <a:ext cx="8229600" cy="3708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151879421"/>
                    </a:ext>
                  </a:extLst>
                </a:gridCol>
                <a:gridCol w="2743200">
                  <a:extLst>
                    <a:ext uri="{9D8B030D-6E8A-4147-A177-3AD203B41FA5}">
                      <a16:colId xmlns:a16="http://schemas.microsoft.com/office/drawing/2014/main" val="166240485"/>
                    </a:ext>
                  </a:extLst>
                </a:gridCol>
                <a:gridCol w="2743200">
                  <a:extLst>
                    <a:ext uri="{9D8B030D-6E8A-4147-A177-3AD203B41FA5}">
                      <a16:colId xmlns:a16="http://schemas.microsoft.com/office/drawing/2014/main" val="3989122578"/>
                    </a:ext>
                  </a:extLst>
                </a:gridCol>
              </a:tblGrid>
              <a:tr h="370840">
                <a:tc>
                  <a:txBody>
                    <a:bodyPr/>
                    <a:lstStyle/>
                    <a:p>
                      <a:r>
                        <a:rPr lang="en-US" dirty="0"/>
                        <a:t>Customer_ID</a:t>
                      </a:r>
                      <a:endParaRPr lang="en-IN" dirty="0"/>
                    </a:p>
                  </a:txBody>
                  <a:tcPr/>
                </a:tc>
                <a:tc>
                  <a:txBody>
                    <a:bodyPr/>
                    <a:lstStyle/>
                    <a:p>
                      <a:r>
                        <a:rPr lang="en-US" dirty="0"/>
                        <a:t>Month_Name</a:t>
                      </a:r>
                      <a:endParaRPr lang="en-IN" dirty="0"/>
                    </a:p>
                  </a:txBody>
                  <a:tcPr/>
                </a:tc>
                <a:tc>
                  <a:txBody>
                    <a:bodyPr/>
                    <a:lstStyle/>
                    <a:p>
                      <a:r>
                        <a:rPr lang="en-US" dirty="0"/>
                        <a:t>No_Purchases</a:t>
                      </a:r>
                      <a:endParaRPr lang="en-IN" dirty="0"/>
                    </a:p>
                  </a:txBody>
                  <a:tcPr/>
                </a:tc>
                <a:extLst>
                  <a:ext uri="{0D108BD9-81ED-4DB2-BD59-A6C34878D82A}">
                    <a16:rowId xmlns:a16="http://schemas.microsoft.com/office/drawing/2014/main" val="1358403425"/>
                  </a:ext>
                </a:extLst>
              </a:tr>
            </a:tbl>
          </a:graphicData>
        </a:graphic>
      </p:graphicFrame>
    </p:spTree>
    <p:extLst>
      <p:ext uri="{BB962C8B-B14F-4D97-AF65-F5344CB8AC3E}">
        <p14:creationId xmlns:p14="http://schemas.microsoft.com/office/powerpoint/2010/main" val="2424798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Task 9 - </a:t>
            </a:r>
            <a:r>
              <a:rPr lang="en-US" dirty="0">
                <a:solidFill>
                  <a:schemeClr val="accent6">
                    <a:lumMod val="75000"/>
                  </a:schemeClr>
                </a:solidFill>
              </a:rPr>
              <a:t>Finding Top 5 Customers by Sales Volume</a:t>
            </a:r>
            <a:endParaRPr dirty="0">
              <a:solidFill>
                <a:schemeClr val="accent6">
                  <a:lumMod val="75000"/>
                </a:schemeClr>
              </a:solidFill>
            </a:endParaRPr>
          </a:p>
        </p:txBody>
      </p:sp>
      <p:sp>
        <p:nvSpPr>
          <p:cNvPr id="3" name="Content Placeholder 2"/>
          <p:cNvSpPr>
            <a:spLocks noGrp="1"/>
          </p:cNvSpPr>
          <p:nvPr>
            <p:ph idx="1"/>
          </p:nvPr>
        </p:nvSpPr>
        <p:spPr/>
        <p:style>
          <a:lnRef idx="1">
            <a:schemeClr val="accent1"/>
          </a:lnRef>
          <a:fillRef idx="3">
            <a:schemeClr val="accent1"/>
          </a:fillRef>
          <a:effectRef idx="2">
            <a:schemeClr val="accent1"/>
          </a:effectRef>
          <a:fontRef idx="minor">
            <a:schemeClr val="lt1"/>
          </a:fontRef>
        </p:style>
        <p:txBody>
          <a:bodyPr/>
          <a:lstStyle/>
          <a:p>
            <a:pPr marL="0" indent="0">
              <a:buNone/>
            </a:pPr>
            <a:r>
              <a:rPr lang="en-US" dirty="0"/>
              <a:t>Query-</a:t>
            </a:r>
          </a:p>
          <a:p>
            <a:pPr marL="0" indent="0">
              <a:buNone/>
            </a:pPr>
            <a:r>
              <a:rPr lang="en-US" dirty="0">
                <a:solidFill>
                  <a:schemeClr val="accent6">
                    <a:lumMod val="40000"/>
                    <a:lumOff val="60000"/>
                  </a:schemeClr>
                </a:solidFill>
              </a:rPr>
              <a:t>use sql_project;</a:t>
            </a:r>
          </a:p>
          <a:p>
            <a:pPr marL="0" indent="0">
              <a:buNone/>
            </a:pPr>
            <a:r>
              <a:rPr lang="en-US" dirty="0">
                <a:solidFill>
                  <a:schemeClr val="accent6">
                    <a:lumMod val="40000"/>
                    <a:lumOff val="60000"/>
                  </a:schemeClr>
                </a:solidFill>
              </a:rPr>
              <a:t>select Customer_ID,round(SUM(Total),0) </a:t>
            </a:r>
          </a:p>
          <a:p>
            <a:pPr marL="0" indent="0">
              <a:buNone/>
            </a:pPr>
            <a:r>
              <a:rPr lang="en-US" dirty="0">
                <a:solidFill>
                  <a:schemeClr val="accent6">
                    <a:lumMod val="40000"/>
                    <a:lumOff val="60000"/>
                  </a:schemeClr>
                </a:solidFill>
              </a:rPr>
              <a:t>AS Sales_Volumne from walmartsales </a:t>
            </a:r>
          </a:p>
          <a:p>
            <a:pPr marL="0" indent="0">
              <a:buNone/>
            </a:pPr>
            <a:r>
              <a:rPr lang="en-US" dirty="0">
                <a:solidFill>
                  <a:schemeClr val="accent6">
                    <a:lumMod val="40000"/>
                    <a:lumOff val="60000"/>
                  </a:schemeClr>
                </a:solidFill>
              </a:rPr>
              <a:t>Group by Customer_ID </a:t>
            </a:r>
          </a:p>
          <a:p>
            <a:pPr marL="0" indent="0">
              <a:buNone/>
            </a:pPr>
            <a:r>
              <a:rPr lang="en-US" dirty="0">
                <a:solidFill>
                  <a:schemeClr val="accent6">
                    <a:lumMod val="40000"/>
                    <a:lumOff val="60000"/>
                  </a:schemeClr>
                </a:solidFill>
              </a:rPr>
              <a:t>ORDER by Sales_Volumne desc LIMIT 5;</a:t>
            </a:r>
            <a:endParaRPr dirty="0">
              <a:solidFill>
                <a:schemeClr val="accent6">
                  <a:lumMod val="40000"/>
                  <a:lumOff val="60000"/>
                </a:schemeClr>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421DA-140B-C38A-AE22-ACB96332A540}"/>
              </a:ext>
            </a:extLst>
          </p:cNvPr>
          <p:cNvSpPr>
            <a:spLocks noGrp="1"/>
          </p:cNvSpPr>
          <p:nvPr>
            <p:ph type="title"/>
          </p:nvPr>
        </p:nvSpPr>
        <p:spPr>
          <a:xfrm>
            <a:off x="1443491" y="804521"/>
            <a:ext cx="6571343" cy="683086"/>
          </a:xfrm>
        </p:spPr>
        <p:txBody>
          <a:bodyPr/>
          <a:lstStyle/>
          <a:p>
            <a:r>
              <a:rPr lang="en-US" dirty="0"/>
              <a:t>                    Output</a:t>
            </a:r>
            <a:endParaRPr lang="en-IN" dirty="0"/>
          </a:p>
        </p:txBody>
      </p:sp>
      <p:graphicFrame>
        <p:nvGraphicFramePr>
          <p:cNvPr id="4" name="Content Placeholder 3">
            <a:extLst>
              <a:ext uri="{FF2B5EF4-FFF2-40B4-BE49-F238E27FC236}">
                <a16:creationId xmlns:a16="http://schemas.microsoft.com/office/drawing/2014/main" id="{5E6B3DB9-1389-F39A-85FB-F1341DC4C5E2}"/>
              </a:ext>
            </a:extLst>
          </p:cNvPr>
          <p:cNvGraphicFramePr>
            <a:graphicFrameLocks noGrp="1"/>
          </p:cNvGraphicFramePr>
          <p:nvPr>
            <p:ph idx="1"/>
            <p:extLst>
              <p:ext uri="{D42A27DB-BD31-4B8C-83A1-F6EECF244321}">
                <p14:modId xmlns:p14="http://schemas.microsoft.com/office/powerpoint/2010/main" val="2917823030"/>
              </p:ext>
            </p:extLst>
          </p:nvPr>
        </p:nvGraphicFramePr>
        <p:xfrm>
          <a:off x="457200" y="2088526"/>
          <a:ext cx="8229600" cy="2237580"/>
        </p:xfrm>
        <a:graphic>
          <a:graphicData uri="http://schemas.openxmlformats.org/drawingml/2006/table">
            <a:tbl>
              <a:tblPr>
                <a:tableStyleId>{775DCB02-9BB8-47FD-8907-85C794F793BA}</a:tableStyleId>
              </a:tblPr>
              <a:tblGrid>
                <a:gridCol w="4114800">
                  <a:extLst>
                    <a:ext uri="{9D8B030D-6E8A-4147-A177-3AD203B41FA5}">
                      <a16:colId xmlns:a16="http://schemas.microsoft.com/office/drawing/2014/main" val="1106924874"/>
                    </a:ext>
                  </a:extLst>
                </a:gridCol>
                <a:gridCol w="4114800">
                  <a:extLst>
                    <a:ext uri="{9D8B030D-6E8A-4147-A177-3AD203B41FA5}">
                      <a16:colId xmlns:a16="http://schemas.microsoft.com/office/drawing/2014/main" val="55424664"/>
                    </a:ext>
                  </a:extLst>
                </a:gridCol>
              </a:tblGrid>
              <a:tr h="447516">
                <a:tc>
                  <a:txBody>
                    <a:bodyPr/>
                    <a:lstStyle/>
                    <a:p>
                      <a:r>
                        <a:rPr lang="en-IN" dirty="0"/>
                        <a:t>8</a:t>
                      </a:r>
                    </a:p>
                  </a:txBody>
                  <a:tcPr anchor="ctr"/>
                </a:tc>
                <a:tc>
                  <a:txBody>
                    <a:bodyPr/>
                    <a:lstStyle/>
                    <a:p>
                      <a:r>
                        <a:rPr lang="en-IN" dirty="0"/>
                        <a:t>26634</a:t>
                      </a:r>
                    </a:p>
                  </a:txBody>
                  <a:tcPr anchor="ctr"/>
                </a:tc>
                <a:extLst>
                  <a:ext uri="{0D108BD9-81ED-4DB2-BD59-A6C34878D82A}">
                    <a16:rowId xmlns:a16="http://schemas.microsoft.com/office/drawing/2014/main" val="3372939688"/>
                  </a:ext>
                </a:extLst>
              </a:tr>
              <a:tr h="447516">
                <a:tc>
                  <a:txBody>
                    <a:bodyPr/>
                    <a:lstStyle/>
                    <a:p>
                      <a:r>
                        <a:rPr lang="en-IN" dirty="0"/>
                        <a:t>3</a:t>
                      </a:r>
                    </a:p>
                  </a:txBody>
                  <a:tcPr anchor="ctr"/>
                </a:tc>
                <a:tc>
                  <a:txBody>
                    <a:bodyPr/>
                    <a:lstStyle/>
                    <a:p>
                      <a:r>
                        <a:rPr lang="en-IN" dirty="0"/>
                        <a:t>23402</a:t>
                      </a:r>
                    </a:p>
                  </a:txBody>
                  <a:tcPr anchor="ctr"/>
                </a:tc>
                <a:extLst>
                  <a:ext uri="{0D108BD9-81ED-4DB2-BD59-A6C34878D82A}">
                    <a16:rowId xmlns:a16="http://schemas.microsoft.com/office/drawing/2014/main" val="4221002094"/>
                  </a:ext>
                </a:extLst>
              </a:tr>
              <a:tr h="447516">
                <a:tc>
                  <a:txBody>
                    <a:bodyPr/>
                    <a:lstStyle/>
                    <a:p>
                      <a:r>
                        <a:rPr lang="en-IN" dirty="0"/>
                        <a:t>2</a:t>
                      </a:r>
                    </a:p>
                  </a:txBody>
                  <a:tcPr anchor="ctr"/>
                </a:tc>
                <a:tc>
                  <a:txBody>
                    <a:bodyPr/>
                    <a:lstStyle/>
                    <a:p>
                      <a:r>
                        <a:rPr lang="en-IN" dirty="0"/>
                        <a:t>23392</a:t>
                      </a:r>
                    </a:p>
                  </a:txBody>
                  <a:tcPr anchor="ctr"/>
                </a:tc>
                <a:extLst>
                  <a:ext uri="{0D108BD9-81ED-4DB2-BD59-A6C34878D82A}">
                    <a16:rowId xmlns:a16="http://schemas.microsoft.com/office/drawing/2014/main" val="1268201720"/>
                  </a:ext>
                </a:extLst>
              </a:tr>
              <a:tr h="447516">
                <a:tc>
                  <a:txBody>
                    <a:bodyPr/>
                    <a:lstStyle/>
                    <a:p>
                      <a:r>
                        <a:rPr lang="en-IN" dirty="0"/>
                        <a:t>15</a:t>
                      </a:r>
                    </a:p>
                  </a:txBody>
                  <a:tcPr anchor="ctr"/>
                </a:tc>
                <a:tc>
                  <a:txBody>
                    <a:bodyPr/>
                    <a:lstStyle/>
                    <a:p>
                      <a:r>
                        <a:rPr lang="en-IN" dirty="0"/>
                        <a:t>22674</a:t>
                      </a:r>
                    </a:p>
                  </a:txBody>
                  <a:tcPr anchor="ctr"/>
                </a:tc>
                <a:extLst>
                  <a:ext uri="{0D108BD9-81ED-4DB2-BD59-A6C34878D82A}">
                    <a16:rowId xmlns:a16="http://schemas.microsoft.com/office/drawing/2014/main" val="571930299"/>
                  </a:ext>
                </a:extLst>
              </a:tr>
              <a:tr h="447516">
                <a:tc>
                  <a:txBody>
                    <a:bodyPr/>
                    <a:lstStyle/>
                    <a:p>
                      <a:r>
                        <a:rPr lang="en-IN" dirty="0"/>
                        <a:t>1</a:t>
                      </a:r>
                    </a:p>
                  </a:txBody>
                  <a:tcPr anchor="ctr"/>
                </a:tc>
                <a:tc>
                  <a:txBody>
                    <a:bodyPr/>
                    <a:lstStyle/>
                    <a:p>
                      <a:r>
                        <a:rPr lang="en-IN" dirty="0"/>
                        <a:t>22635</a:t>
                      </a:r>
                    </a:p>
                  </a:txBody>
                  <a:tcPr anchor="ctr"/>
                </a:tc>
                <a:extLst>
                  <a:ext uri="{0D108BD9-81ED-4DB2-BD59-A6C34878D82A}">
                    <a16:rowId xmlns:a16="http://schemas.microsoft.com/office/drawing/2014/main" val="2437187113"/>
                  </a:ext>
                </a:extLst>
              </a:tr>
            </a:tbl>
          </a:graphicData>
        </a:graphic>
      </p:graphicFrame>
      <p:graphicFrame>
        <p:nvGraphicFramePr>
          <p:cNvPr id="5" name="Table 4">
            <a:extLst>
              <a:ext uri="{FF2B5EF4-FFF2-40B4-BE49-F238E27FC236}">
                <a16:creationId xmlns:a16="http://schemas.microsoft.com/office/drawing/2014/main" id="{4B49C10A-A72D-B3FC-EAA1-F30F594114A2}"/>
              </a:ext>
            </a:extLst>
          </p:cNvPr>
          <p:cNvGraphicFramePr>
            <a:graphicFrameLocks noGrp="1"/>
          </p:cNvGraphicFramePr>
          <p:nvPr>
            <p:extLst>
              <p:ext uri="{D42A27DB-BD31-4B8C-83A1-F6EECF244321}">
                <p14:modId xmlns:p14="http://schemas.microsoft.com/office/powerpoint/2010/main" val="2504729128"/>
              </p:ext>
            </p:extLst>
          </p:nvPr>
        </p:nvGraphicFramePr>
        <p:xfrm>
          <a:off x="457200" y="1625299"/>
          <a:ext cx="8229600" cy="463227"/>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3070210207"/>
                    </a:ext>
                  </a:extLst>
                </a:gridCol>
                <a:gridCol w="4114800">
                  <a:extLst>
                    <a:ext uri="{9D8B030D-6E8A-4147-A177-3AD203B41FA5}">
                      <a16:colId xmlns:a16="http://schemas.microsoft.com/office/drawing/2014/main" val="2113291224"/>
                    </a:ext>
                  </a:extLst>
                </a:gridCol>
              </a:tblGrid>
              <a:tr h="463227">
                <a:tc>
                  <a:txBody>
                    <a:bodyPr/>
                    <a:lstStyle/>
                    <a:p>
                      <a:r>
                        <a:rPr lang="en-US" dirty="0"/>
                        <a:t>Customer_ID</a:t>
                      </a:r>
                      <a:endParaRPr lang="en-IN" dirty="0"/>
                    </a:p>
                  </a:txBody>
                  <a:tcPr/>
                </a:tc>
                <a:tc>
                  <a:txBody>
                    <a:bodyPr/>
                    <a:lstStyle/>
                    <a:p>
                      <a:r>
                        <a:rPr lang="en-US" dirty="0"/>
                        <a:t>Sales_Volumne</a:t>
                      </a:r>
                      <a:endParaRPr lang="en-IN" dirty="0"/>
                    </a:p>
                  </a:txBody>
                  <a:tcPr/>
                </a:tc>
                <a:extLst>
                  <a:ext uri="{0D108BD9-81ED-4DB2-BD59-A6C34878D82A}">
                    <a16:rowId xmlns:a16="http://schemas.microsoft.com/office/drawing/2014/main" val="2971961499"/>
                  </a:ext>
                </a:extLst>
              </a:tr>
            </a:tbl>
          </a:graphicData>
        </a:graphic>
      </p:graphicFrame>
    </p:spTree>
    <p:extLst>
      <p:ext uri="{BB962C8B-B14F-4D97-AF65-F5344CB8AC3E}">
        <p14:creationId xmlns:p14="http://schemas.microsoft.com/office/powerpoint/2010/main" val="14127543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Task 10 - </a:t>
            </a:r>
            <a:r>
              <a:rPr lang="en-US" dirty="0">
                <a:solidFill>
                  <a:schemeClr val="accent6">
                    <a:lumMod val="75000"/>
                  </a:schemeClr>
                </a:solidFill>
              </a:rPr>
              <a:t>Analyzing Sales Trends by Day of the Week</a:t>
            </a:r>
            <a:endParaRPr dirty="0">
              <a:solidFill>
                <a:schemeClr val="accent6">
                  <a:lumMod val="75000"/>
                </a:schemeClr>
              </a:solidFill>
            </a:endParaRPr>
          </a:p>
        </p:txBody>
      </p:sp>
      <p:sp>
        <p:nvSpPr>
          <p:cNvPr id="3" name="Content Placeholder 2"/>
          <p:cNvSpPr>
            <a:spLocks noGrp="1"/>
          </p:cNvSpPr>
          <p:nvPr>
            <p:ph idx="1"/>
          </p:nvPr>
        </p:nvSpPr>
        <p:spPr/>
        <p:style>
          <a:lnRef idx="1">
            <a:schemeClr val="accent1"/>
          </a:lnRef>
          <a:fillRef idx="3">
            <a:schemeClr val="accent1"/>
          </a:fillRef>
          <a:effectRef idx="2">
            <a:schemeClr val="accent1"/>
          </a:effectRef>
          <a:fontRef idx="minor">
            <a:schemeClr val="lt1"/>
          </a:fontRef>
        </p:style>
        <p:txBody>
          <a:bodyPr/>
          <a:lstStyle/>
          <a:p>
            <a:pPr marL="0" indent="0">
              <a:buNone/>
            </a:pPr>
            <a:r>
              <a:rPr lang="en-US" dirty="0"/>
              <a:t>Query –</a:t>
            </a:r>
          </a:p>
          <a:p>
            <a:pPr marL="0" indent="0">
              <a:buNone/>
            </a:pPr>
            <a:r>
              <a:rPr lang="en-US" dirty="0">
                <a:solidFill>
                  <a:schemeClr val="accent6">
                    <a:lumMod val="40000"/>
                    <a:lumOff val="60000"/>
                  </a:schemeClr>
                </a:solidFill>
              </a:rPr>
              <a:t>use sql_project;</a:t>
            </a:r>
          </a:p>
          <a:p>
            <a:pPr marL="0" indent="0">
              <a:buNone/>
            </a:pPr>
            <a:r>
              <a:rPr lang="en-US" dirty="0">
                <a:solidFill>
                  <a:schemeClr val="accent6">
                    <a:lumMod val="40000"/>
                    <a:lumOff val="60000"/>
                  </a:schemeClr>
                </a:solidFill>
              </a:rPr>
              <a:t>SELECT DAYNAME(Date_) AS DayOfWeek, ROUND(SUM(Total),0) AS TotalSales </a:t>
            </a:r>
          </a:p>
          <a:p>
            <a:pPr marL="0" indent="0">
              <a:buNone/>
            </a:pPr>
            <a:r>
              <a:rPr lang="en-US" dirty="0">
                <a:solidFill>
                  <a:schemeClr val="accent6">
                    <a:lumMod val="40000"/>
                    <a:lumOff val="60000"/>
                  </a:schemeClr>
                </a:solidFill>
              </a:rPr>
              <a:t>FROM walmartsales GROUP BY DayOfWeek ORDER BY TotalSales DESC;</a:t>
            </a:r>
            <a:endParaRPr dirty="0">
              <a:solidFill>
                <a:schemeClr val="accent6">
                  <a:lumMod val="40000"/>
                  <a:lumOff val="60000"/>
                </a:schemeClr>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B04E7-3FFE-218C-7175-2D27183D43E2}"/>
              </a:ext>
            </a:extLst>
          </p:cNvPr>
          <p:cNvSpPr>
            <a:spLocks noGrp="1"/>
          </p:cNvSpPr>
          <p:nvPr>
            <p:ph type="title"/>
          </p:nvPr>
        </p:nvSpPr>
        <p:spPr>
          <a:xfrm>
            <a:off x="1443491" y="804520"/>
            <a:ext cx="6571343" cy="642143"/>
          </a:xfrm>
        </p:spPr>
        <p:txBody>
          <a:bodyPr/>
          <a:lstStyle/>
          <a:p>
            <a:r>
              <a:rPr lang="en-US" dirty="0"/>
              <a:t>                    Output</a:t>
            </a:r>
            <a:endParaRPr lang="en-IN" dirty="0"/>
          </a:p>
        </p:txBody>
      </p:sp>
      <p:graphicFrame>
        <p:nvGraphicFramePr>
          <p:cNvPr id="4" name="Content Placeholder 3">
            <a:extLst>
              <a:ext uri="{FF2B5EF4-FFF2-40B4-BE49-F238E27FC236}">
                <a16:creationId xmlns:a16="http://schemas.microsoft.com/office/drawing/2014/main" id="{221BEA6C-2C97-2B3D-4EAA-A028EA15685A}"/>
              </a:ext>
            </a:extLst>
          </p:cNvPr>
          <p:cNvGraphicFramePr>
            <a:graphicFrameLocks noGrp="1"/>
          </p:cNvGraphicFramePr>
          <p:nvPr>
            <p:ph idx="1"/>
            <p:extLst>
              <p:ext uri="{D42A27DB-BD31-4B8C-83A1-F6EECF244321}">
                <p14:modId xmlns:p14="http://schemas.microsoft.com/office/powerpoint/2010/main" val="3255511322"/>
              </p:ext>
            </p:extLst>
          </p:nvPr>
        </p:nvGraphicFramePr>
        <p:xfrm>
          <a:off x="614362" y="2014842"/>
          <a:ext cx="8229600" cy="2080260"/>
        </p:xfrm>
        <a:graphic>
          <a:graphicData uri="http://schemas.openxmlformats.org/drawingml/2006/table">
            <a:tbl>
              <a:tblPr>
                <a:tableStyleId>{775DCB02-9BB8-47FD-8907-85C794F793BA}</a:tableStyleId>
              </a:tblPr>
              <a:tblGrid>
                <a:gridCol w="3603356">
                  <a:extLst>
                    <a:ext uri="{9D8B030D-6E8A-4147-A177-3AD203B41FA5}">
                      <a16:colId xmlns:a16="http://schemas.microsoft.com/office/drawing/2014/main" val="3249275452"/>
                    </a:ext>
                  </a:extLst>
                </a:gridCol>
                <a:gridCol w="4626244">
                  <a:extLst>
                    <a:ext uri="{9D8B030D-6E8A-4147-A177-3AD203B41FA5}">
                      <a16:colId xmlns:a16="http://schemas.microsoft.com/office/drawing/2014/main" val="3458596849"/>
                    </a:ext>
                  </a:extLst>
                </a:gridCol>
              </a:tblGrid>
              <a:tr h="0">
                <a:tc>
                  <a:txBody>
                    <a:bodyPr/>
                    <a:lstStyle/>
                    <a:p>
                      <a:r>
                        <a:rPr lang="en-IN" dirty="0"/>
                        <a:t>Saturday</a:t>
                      </a:r>
                    </a:p>
                  </a:txBody>
                  <a:tcPr anchor="ctr"/>
                </a:tc>
                <a:tc>
                  <a:txBody>
                    <a:bodyPr/>
                    <a:lstStyle/>
                    <a:p>
                      <a:r>
                        <a:rPr lang="en-IN" dirty="0"/>
                        <a:t>56121</a:t>
                      </a:r>
                    </a:p>
                  </a:txBody>
                  <a:tcPr anchor="ctr"/>
                </a:tc>
                <a:extLst>
                  <a:ext uri="{0D108BD9-81ED-4DB2-BD59-A6C34878D82A}">
                    <a16:rowId xmlns:a16="http://schemas.microsoft.com/office/drawing/2014/main" val="2812467949"/>
                  </a:ext>
                </a:extLst>
              </a:tr>
              <a:tr h="0">
                <a:tc>
                  <a:txBody>
                    <a:bodyPr/>
                    <a:lstStyle/>
                    <a:p>
                      <a:r>
                        <a:rPr lang="en-IN" dirty="0"/>
                        <a:t>Tuesday</a:t>
                      </a:r>
                    </a:p>
                  </a:txBody>
                  <a:tcPr anchor="ctr"/>
                </a:tc>
                <a:tc>
                  <a:txBody>
                    <a:bodyPr/>
                    <a:lstStyle/>
                    <a:p>
                      <a:r>
                        <a:rPr lang="en-IN" dirty="0"/>
                        <a:t>51482</a:t>
                      </a:r>
                    </a:p>
                  </a:txBody>
                  <a:tcPr anchor="ctr"/>
                </a:tc>
                <a:extLst>
                  <a:ext uri="{0D108BD9-81ED-4DB2-BD59-A6C34878D82A}">
                    <a16:rowId xmlns:a16="http://schemas.microsoft.com/office/drawing/2014/main" val="3154117466"/>
                  </a:ext>
                </a:extLst>
              </a:tr>
              <a:tr h="0">
                <a:tc>
                  <a:txBody>
                    <a:bodyPr/>
                    <a:lstStyle/>
                    <a:p>
                      <a:r>
                        <a:rPr lang="en-IN" dirty="0"/>
                        <a:t>Thursday</a:t>
                      </a:r>
                    </a:p>
                  </a:txBody>
                  <a:tcPr anchor="ctr"/>
                </a:tc>
                <a:tc>
                  <a:txBody>
                    <a:bodyPr/>
                    <a:lstStyle/>
                    <a:p>
                      <a:r>
                        <a:rPr lang="en-IN" dirty="0"/>
                        <a:t>45349</a:t>
                      </a:r>
                    </a:p>
                  </a:txBody>
                  <a:tcPr anchor="ctr"/>
                </a:tc>
                <a:extLst>
                  <a:ext uri="{0D108BD9-81ED-4DB2-BD59-A6C34878D82A}">
                    <a16:rowId xmlns:a16="http://schemas.microsoft.com/office/drawing/2014/main" val="1211051995"/>
                  </a:ext>
                </a:extLst>
              </a:tr>
              <a:tr h="0">
                <a:tc>
                  <a:txBody>
                    <a:bodyPr/>
                    <a:lstStyle/>
                    <a:p>
                      <a:r>
                        <a:rPr lang="en-IN" dirty="0"/>
                        <a:t>Sunday</a:t>
                      </a:r>
                    </a:p>
                  </a:txBody>
                  <a:tcPr anchor="ctr"/>
                </a:tc>
                <a:tc>
                  <a:txBody>
                    <a:bodyPr/>
                    <a:lstStyle/>
                    <a:p>
                      <a:r>
                        <a:rPr lang="en-IN" dirty="0"/>
                        <a:t>44458</a:t>
                      </a:r>
                    </a:p>
                  </a:txBody>
                  <a:tcPr anchor="ctr"/>
                </a:tc>
                <a:extLst>
                  <a:ext uri="{0D108BD9-81ED-4DB2-BD59-A6C34878D82A}">
                    <a16:rowId xmlns:a16="http://schemas.microsoft.com/office/drawing/2014/main" val="1031882891"/>
                  </a:ext>
                </a:extLst>
              </a:tr>
              <a:tr h="0">
                <a:tc>
                  <a:txBody>
                    <a:bodyPr/>
                    <a:lstStyle/>
                    <a:p>
                      <a:r>
                        <a:rPr lang="en-IN" dirty="0"/>
                        <a:t>Friday</a:t>
                      </a:r>
                    </a:p>
                  </a:txBody>
                  <a:tcPr anchor="ctr"/>
                </a:tc>
                <a:tc>
                  <a:txBody>
                    <a:bodyPr/>
                    <a:lstStyle/>
                    <a:p>
                      <a:r>
                        <a:rPr lang="en-IN" dirty="0"/>
                        <a:t>43926</a:t>
                      </a:r>
                    </a:p>
                  </a:txBody>
                  <a:tcPr anchor="ctr"/>
                </a:tc>
                <a:extLst>
                  <a:ext uri="{0D108BD9-81ED-4DB2-BD59-A6C34878D82A}">
                    <a16:rowId xmlns:a16="http://schemas.microsoft.com/office/drawing/2014/main" val="2009949075"/>
                  </a:ext>
                </a:extLst>
              </a:tr>
              <a:tr h="0">
                <a:tc>
                  <a:txBody>
                    <a:bodyPr/>
                    <a:lstStyle/>
                    <a:p>
                      <a:r>
                        <a:rPr lang="en-IN" dirty="0"/>
                        <a:t>Wednesday</a:t>
                      </a:r>
                    </a:p>
                  </a:txBody>
                  <a:tcPr anchor="ctr"/>
                </a:tc>
                <a:tc>
                  <a:txBody>
                    <a:bodyPr/>
                    <a:lstStyle/>
                    <a:p>
                      <a:r>
                        <a:rPr lang="en-IN" dirty="0"/>
                        <a:t>43731</a:t>
                      </a:r>
                    </a:p>
                  </a:txBody>
                  <a:tcPr anchor="ctr"/>
                </a:tc>
                <a:extLst>
                  <a:ext uri="{0D108BD9-81ED-4DB2-BD59-A6C34878D82A}">
                    <a16:rowId xmlns:a16="http://schemas.microsoft.com/office/drawing/2014/main" val="1128046789"/>
                  </a:ext>
                </a:extLst>
              </a:tr>
              <a:tr h="0">
                <a:tc>
                  <a:txBody>
                    <a:bodyPr/>
                    <a:lstStyle/>
                    <a:p>
                      <a:r>
                        <a:rPr lang="en-IN" dirty="0"/>
                        <a:t>Monday</a:t>
                      </a:r>
                    </a:p>
                  </a:txBody>
                  <a:tcPr anchor="ctr"/>
                </a:tc>
                <a:tc>
                  <a:txBody>
                    <a:bodyPr/>
                    <a:lstStyle/>
                    <a:p>
                      <a:r>
                        <a:rPr lang="en-IN" dirty="0"/>
                        <a:t>37899</a:t>
                      </a:r>
                    </a:p>
                  </a:txBody>
                  <a:tcPr anchor="ctr"/>
                </a:tc>
                <a:extLst>
                  <a:ext uri="{0D108BD9-81ED-4DB2-BD59-A6C34878D82A}">
                    <a16:rowId xmlns:a16="http://schemas.microsoft.com/office/drawing/2014/main" val="659173858"/>
                  </a:ext>
                </a:extLst>
              </a:tr>
            </a:tbl>
          </a:graphicData>
        </a:graphic>
      </p:graphicFrame>
      <p:graphicFrame>
        <p:nvGraphicFramePr>
          <p:cNvPr id="5" name="Table 4">
            <a:extLst>
              <a:ext uri="{FF2B5EF4-FFF2-40B4-BE49-F238E27FC236}">
                <a16:creationId xmlns:a16="http://schemas.microsoft.com/office/drawing/2014/main" id="{C53197D0-33AA-DF0B-8010-0C8E9B56288A}"/>
              </a:ext>
            </a:extLst>
          </p:cNvPr>
          <p:cNvGraphicFramePr>
            <a:graphicFrameLocks noGrp="1"/>
          </p:cNvGraphicFramePr>
          <p:nvPr>
            <p:extLst>
              <p:ext uri="{D42A27DB-BD31-4B8C-83A1-F6EECF244321}">
                <p14:modId xmlns:p14="http://schemas.microsoft.com/office/powerpoint/2010/main" val="2716166660"/>
              </p:ext>
            </p:extLst>
          </p:nvPr>
        </p:nvGraphicFramePr>
        <p:xfrm>
          <a:off x="614362" y="1644002"/>
          <a:ext cx="8229600" cy="370840"/>
        </p:xfrm>
        <a:graphic>
          <a:graphicData uri="http://schemas.openxmlformats.org/drawingml/2006/table">
            <a:tbl>
              <a:tblPr firstRow="1" bandRow="1">
                <a:tableStyleId>{5C22544A-7EE6-4342-B048-85BDC9FD1C3A}</a:tableStyleId>
              </a:tblPr>
              <a:tblGrid>
                <a:gridCol w="3603356">
                  <a:extLst>
                    <a:ext uri="{9D8B030D-6E8A-4147-A177-3AD203B41FA5}">
                      <a16:colId xmlns:a16="http://schemas.microsoft.com/office/drawing/2014/main" val="3069365516"/>
                    </a:ext>
                  </a:extLst>
                </a:gridCol>
                <a:gridCol w="4626244">
                  <a:extLst>
                    <a:ext uri="{9D8B030D-6E8A-4147-A177-3AD203B41FA5}">
                      <a16:colId xmlns:a16="http://schemas.microsoft.com/office/drawing/2014/main" val="1182891698"/>
                    </a:ext>
                  </a:extLst>
                </a:gridCol>
              </a:tblGrid>
              <a:tr h="370840">
                <a:tc>
                  <a:txBody>
                    <a:bodyPr/>
                    <a:lstStyle/>
                    <a:p>
                      <a:r>
                        <a:rPr lang="en-US" dirty="0"/>
                        <a:t>DayOfWeek</a:t>
                      </a:r>
                      <a:endParaRPr lang="en-IN" dirty="0"/>
                    </a:p>
                  </a:txBody>
                  <a:tcPr/>
                </a:tc>
                <a:tc>
                  <a:txBody>
                    <a:bodyPr/>
                    <a:lstStyle/>
                    <a:p>
                      <a:r>
                        <a:rPr lang="en-US" dirty="0"/>
                        <a:t>TotalSales</a:t>
                      </a:r>
                      <a:endParaRPr lang="en-IN" dirty="0"/>
                    </a:p>
                  </a:txBody>
                  <a:tcPr/>
                </a:tc>
                <a:extLst>
                  <a:ext uri="{0D108BD9-81ED-4DB2-BD59-A6C34878D82A}">
                    <a16:rowId xmlns:a16="http://schemas.microsoft.com/office/drawing/2014/main" val="2736574321"/>
                  </a:ext>
                </a:extLst>
              </a:tr>
            </a:tbl>
          </a:graphicData>
        </a:graphic>
      </p:graphicFrame>
    </p:spTree>
    <p:extLst>
      <p:ext uri="{BB962C8B-B14F-4D97-AF65-F5344CB8AC3E}">
        <p14:creationId xmlns:p14="http://schemas.microsoft.com/office/powerpoint/2010/main" val="2171293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71E2A-C01C-DC6D-4615-2BD17ED8B236}"/>
              </a:ext>
            </a:extLst>
          </p:cNvPr>
          <p:cNvSpPr>
            <a:spLocks noGrp="1"/>
          </p:cNvSpPr>
          <p:nvPr>
            <p:ph type="title"/>
          </p:nvPr>
        </p:nvSpPr>
        <p:spPr>
          <a:xfrm>
            <a:off x="685800" y="627087"/>
            <a:ext cx="7772400" cy="821211"/>
          </a:xfrm>
        </p:spPr>
        <p:txBody>
          <a:bodyPr/>
          <a:lstStyle/>
          <a:p>
            <a:r>
              <a:rPr lang="en-US" dirty="0">
                <a:solidFill>
                  <a:schemeClr val="accent2"/>
                </a:solidFill>
              </a:rPr>
              <a:t>Video Explanations Link</a:t>
            </a:r>
            <a:endParaRPr lang="en-IN" dirty="0">
              <a:solidFill>
                <a:schemeClr val="accent2"/>
              </a:solidFill>
            </a:endParaRPr>
          </a:p>
        </p:txBody>
      </p:sp>
      <p:sp>
        <p:nvSpPr>
          <p:cNvPr id="3" name="Text Placeholder 2">
            <a:extLst>
              <a:ext uri="{FF2B5EF4-FFF2-40B4-BE49-F238E27FC236}">
                <a16:creationId xmlns:a16="http://schemas.microsoft.com/office/drawing/2014/main" id="{56C2C016-A905-DD48-15C1-9AC6D4031012}"/>
              </a:ext>
            </a:extLst>
          </p:cNvPr>
          <p:cNvSpPr>
            <a:spLocks noGrp="1"/>
          </p:cNvSpPr>
          <p:nvPr>
            <p:ph type="body" idx="1"/>
          </p:nvPr>
        </p:nvSpPr>
        <p:spPr>
          <a:xfrm>
            <a:off x="685800" y="1786683"/>
            <a:ext cx="7772400" cy="821211"/>
          </a:xfrm>
        </p:spPr>
        <p:txBody>
          <a:bodyPr/>
          <a:lstStyle/>
          <a:p>
            <a:r>
              <a:rPr lang="en-IN" dirty="0">
                <a:solidFill>
                  <a:srgbClr val="0070C0"/>
                </a:solidFill>
              </a:rPr>
              <a:t>https://drive.google.com/file/d/1hMlBJfH4l95X-XWWjYMfRJwtEGdax40L/view?usp=drive_link</a:t>
            </a:r>
          </a:p>
        </p:txBody>
      </p:sp>
    </p:spTree>
    <p:extLst>
      <p:ext uri="{BB962C8B-B14F-4D97-AF65-F5344CB8AC3E}">
        <p14:creationId xmlns:p14="http://schemas.microsoft.com/office/powerpoint/2010/main" val="3550530023"/>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TM10001114[[fn=Gallery]]</Template>
  <TotalTime>252</TotalTime>
  <Words>1183</Words>
  <Application>Microsoft Office PowerPoint</Application>
  <PresentationFormat>On-screen Show (4:3)</PresentationFormat>
  <Paragraphs>452</Paragraphs>
  <Slides>24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Arial</vt:lpstr>
      <vt:lpstr>Gill Sans MT</vt:lpstr>
      <vt:lpstr>Gallery</vt:lpstr>
      <vt:lpstr>Sales Performance Analysis of Walmart Stores</vt:lpstr>
      <vt:lpstr>Introduction</vt:lpstr>
      <vt:lpstr>Business Problem</vt:lpstr>
      <vt:lpstr>Task 1 - Identifying the Top Branch by Sales Growth</vt:lpstr>
      <vt:lpstr>                   Output</vt:lpstr>
      <vt:lpstr>Task 2 - Finding the Most Profitable Product Line for Each Branch</vt:lpstr>
      <vt:lpstr>                      Output</vt:lpstr>
      <vt:lpstr>Task 3 - Analyzing Customer Segmentation Based on Spending</vt:lpstr>
      <vt:lpstr>Output - some of the result</vt:lpstr>
      <vt:lpstr>Task 4 - Detecting Anomalies in Sales Transactions</vt:lpstr>
      <vt:lpstr>     Output - some of result</vt:lpstr>
      <vt:lpstr>Task 5 - Most Popular Payment Method by City</vt:lpstr>
      <vt:lpstr>                 Output</vt:lpstr>
      <vt:lpstr>Task 6 - Monthly Sales Distribution by Gender</vt:lpstr>
      <vt:lpstr>                  Output</vt:lpstr>
      <vt:lpstr>Task 7 - Best Product Line by Customer Type</vt:lpstr>
      <vt:lpstr>                     Output</vt:lpstr>
      <vt:lpstr>Task 8 - Identifying Repeat Customers</vt:lpstr>
      <vt:lpstr>Output - some of the result</vt:lpstr>
      <vt:lpstr>Task 9 - Finding Top 5 Customers by Sales Volume</vt:lpstr>
      <vt:lpstr>                    Output</vt:lpstr>
      <vt:lpstr>Task 10 - Analyzing Sales Trends by Day of the Week</vt:lpstr>
      <vt:lpstr>                    Output</vt:lpstr>
      <vt:lpstr>Video Explanations Link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vinay soni</dc:creator>
  <cp:keywords/>
  <dc:description>generated using python-pptx</dc:description>
  <cp:lastModifiedBy>vinay soni</cp:lastModifiedBy>
  <cp:revision>3</cp:revision>
  <dcterms:created xsi:type="dcterms:W3CDTF">2013-01-27T09:14:16Z</dcterms:created>
  <dcterms:modified xsi:type="dcterms:W3CDTF">2025-03-24T12:48:53Z</dcterms:modified>
  <cp:category/>
</cp:coreProperties>
</file>